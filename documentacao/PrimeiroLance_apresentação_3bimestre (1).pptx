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Inter" charset="1" panose="020B0502030000000004"/>
      <p:regular r:id="rId17"/>
    </p:embeddedFont>
    <p:embeddedFont>
      <p:font typeface="Inter Medium" charset="1" panose="02000503000000020004"/>
      <p:regular r:id="rId18"/>
    </p:embeddedFont>
    <p:embeddedFont>
      <p:font typeface="Heading Now 71-78" charset="1" panose="00000000000000000000"/>
      <p:regular r:id="rId19"/>
    </p:embeddedFont>
    <p:embeddedFont>
      <p:font typeface="Inter Bold" charset="1" panose="020B0802030000000004"/>
      <p:regular r:id="rId20"/>
    </p:embeddedFont>
    <p:embeddedFont>
      <p:font typeface="Inter Semi-Bold" charset="1" panose="020005030000000200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Relationship Id="rId3" Target="../media/image6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jpeg" Type="http://schemas.openxmlformats.org/officeDocument/2006/relationships/image"/><Relationship Id="rId4" Target="../media/image10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19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338234" y="3844514"/>
            <a:ext cx="4669767" cy="4266109"/>
          </a:xfrm>
          <a:custGeom>
            <a:avLst/>
            <a:gdLst/>
            <a:ahLst/>
            <a:cxnLst/>
            <a:rect r="r" b="b" t="t" l="l"/>
            <a:pathLst>
              <a:path h="4266109" w="4669767">
                <a:moveTo>
                  <a:pt x="0" y="0"/>
                </a:moveTo>
                <a:lnTo>
                  <a:pt x="4669767" y="0"/>
                </a:lnTo>
                <a:lnTo>
                  <a:pt x="4669767" y="4266109"/>
                </a:lnTo>
                <a:lnTo>
                  <a:pt x="0" y="42661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9687" t="-96588" r="-24262" b="-10100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144000" y="1315346"/>
            <a:ext cx="3051359" cy="850263"/>
            <a:chOff x="0" y="0"/>
            <a:chExt cx="803650" cy="2239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03650" cy="223938"/>
            </a:xfrm>
            <a:custGeom>
              <a:avLst/>
              <a:gdLst/>
              <a:ahLst/>
              <a:cxnLst/>
              <a:rect r="r" b="b" t="t" l="l"/>
              <a:pathLst>
                <a:path h="223938" w="803650">
                  <a:moveTo>
                    <a:pt x="111969" y="0"/>
                  </a:moveTo>
                  <a:lnTo>
                    <a:pt x="691681" y="0"/>
                  </a:lnTo>
                  <a:cubicBezTo>
                    <a:pt x="721377" y="0"/>
                    <a:pt x="749857" y="11797"/>
                    <a:pt x="770855" y="32795"/>
                  </a:cubicBezTo>
                  <a:cubicBezTo>
                    <a:pt x="791854" y="53793"/>
                    <a:pt x="803650" y="82273"/>
                    <a:pt x="803650" y="111969"/>
                  </a:cubicBezTo>
                  <a:lnTo>
                    <a:pt x="803650" y="111969"/>
                  </a:lnTo>
                  <a:cubicBezTo>
                    <a:pt x="803650" y="173807"/>
                    <a:pt x="753520" y="223938"/>
                    <a:pt x="691681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803650" cy="2715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400" spc="-120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EtecVav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338234" y="1315346"/>
            <a:ext cx="1444428" cy="850263"/>
            <a:chOff x="0" y="0"/>
            <a:chExt cx="380425" cy="2239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0425" cy="223938"/>
            </a:xfrm>
            <a:custGeom>
              <a:avLst/>
              <a:gdLst/>
              <a:ahLst/>
              <a:cxnLst/>
              <a:rect r="r" b="b" t="t" l="l"/>
              <a:pathLst>
                <a:path h="223938" w="380425">
                  <a:moveTo>
                    <a:pt x="111969" y="0"/>
                  </a:moveTo>
                  <a:lnTo>
                    <a:pt x="268457" y="0"/>
                  </a:lnTo>
                  <a:cubicBezTo>
                    <a:pt x="298153" y="0"/>
                    <a:pt x="326632" y="11797"/>
                    <a:pt x="347630" y="32795"/>
                  </a:cubicBezTo>
                  <a:cubicBezTo>
                    <a:pt x="368629" y="53793"/>
                    <a:pt x="380425" y="82273"/>
                    <a:pt x="380425" y="111969"/>
                  </a:cubicBezTo>
                  <a:lnTo>
                    <a:pt x="380425" y="111969"/>
                  </a:lnTo>
                  <a:cubicBezTo>
                    <a:pt x="380425" y="141665"/>
                    <a:pt x="368629" y="170144"/>
                    <a:pt x="347630" y="191143"/>
                  </a:cubicBezTo>
                  <a:cubicBezTo>
                    <a:pt x="326632" y="212141"/>
                    <a:pt x="298153" y="223938"/>
                    <a:pt x="268457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ln w="38100" cap="rnd">
              <a:solidFill>
                <a:srgbClr val="FFDE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380425" cy="2715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 spc="-119">
                  <a:solidFill>
                    <a:srgbClr val="FFE536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2026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925537" y="1315346"/>
            <a:ext cx="2651554" cy="1018828"/>
            <a:chOff x="0" y="0"/>
            <a:chExt cx="698352" cy="2683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8352" cy="268333"/>
            </a:xfrm>
            <a:custGeom>
              <a:avLst/>
              <a:gdLst/>
              <a:ahLst/>
              <a:cxnLst/>
              <a:rect r="r" b="b" t="t" l="l"/>
              <a:pathLst>
                <a:path h="268333" w="698352">
                  <a:moveTo>
                    <a:pt x="134167" y="0"/>
                  </a:moveTo>
                  <a:lnTo>
                    <a:pt x="564185" y="0"/>
                  </a:lnTo>
                  <a:cubicBezTo>
                    <a:pt x="638283" y="0"/>
                    <a:pt x="698352" y="60068"/>
                    <a:pt x="698352" y="134167"/>
                  </a:cubicBezTo>
                  <a:lnTo>
                    <a:pt x="698352" y="134167"/>
                  </a:lnTo>
                  <a:cubicBezTo>
                    <a:pt x="698352" y="169750"/>
                    <a:pt x="684216" y="203876"/>
                    <a:pt x="659055" y="229037"/>
                  </a:cubicBezTo>
                  <a:cubicBezTo>
                    <a:pt x="633894" y="254198"/>
                    <a:pt x="599768" y="268333"/>
                    <a:pt x="564185" y="268333"/>
                  </a:cubicBezTo>
                  <a:lnTo>
                    <a:pt x="134167" y="268333"/>
                  </a:lnTo>
                  <a:cubicBezTo>
                    <a:pt x="60068" y="268333"/>
                    <a:pt x="0" y="208265"/>
                    <a:pt x="0" y="134167"/>
                  </a:cubicBezTo>
                  <a:lnTo>
                    <a:pt x="0" y="134167"/>
                  </a:lnTo>
                  <a:cubicBezTo>
                    <a:pt x="0" y="60068"/>
                    <a:pt x="60068" y="0"/>
                    <a:pt x="134167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698352" cy="315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 spc="-119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Desenv. De Sistemas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 flipV="true">
            <a:off x="-420494" y="1740477"/>
            <a:ext cx="9085555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3" id="13"/>
          <p:cNvSpPr/>
          <p:nvPr/>
        </p:nvSpPr>
        <p:spPr>
          <a:xfrm>
            <a:off x="16980041" y="1740477"/>
            <a:ext cx="1307959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oval" len="lg" w="lg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028700" y="9039769"/>
            <a:ext cx="392610" cy="437062"/>
            <a:chOff x="0" y="0"/>
            <a:chExt cx="523480" cy="582749"/>
          </a:xfrm>
        </p:grpSpPr>
        <p:grpSp>
          <p:nvGrpSpPr>
            <p:cNvPr name="Group 15" id="15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sp>
        <p:nvSpPr>
          <p:cNvPr name="TextBox 27" id="27"/>
          <p:cNvSpPr txBox="true"/>
          <p:nvPr/>
        </p:nvSpPr>
        <p:spPr>
          <a:xfrm rot="0">
            <a:off x="1028700" y="3260621"/>
            <a:ext cx="11166659" cy="4172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8"/>
              </a:lnSpc>
            </a:pPr>
            <a:r>
              <a:rPr lang="en-US" sz="17084" spc="-529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PRIMEIRO</a:t>
            </a:r>
          </a:p>
          <a:p>
            <a:pPr algn="l">
              <a:lnSpc>
                <a:spcPts val="14008"/>
              </a:lnSpc>
            </a:pPr>
            <a:r>
              <a:rPr lang="en-US" sz="17084" spc="-529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LANCE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28700" y="7471177"/>
            <a:ext cx="14567639" cy="639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9"/>
              </a:lnSpc>
              <a:spcBef>
                <a:spcPct val="0"/>
              </a:spcBef>
            </a:pPr>
            <a:r>
              <a:rPr lang="en-US" sz="3699" spc="-184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Curso web preparatório para competição de xadrez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570842" y="8985976"/>
            <a:ext cx="14567639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spc="-13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Adrian Morales • Antonio Miguel • João Vitor Gomes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0696004" cy="8229600"/>
            <a:chOff x="0" y="0"/>
            <a:chExt cx="2817054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17054" cy="2167467"/>
            </a:xfrm>
            <a:custGeom>
              <a:avLst/>
              <a:gdLst/>
              <a:ahLst/>
              <a:cxnLst/>
              <a:rect r="r" b="b" t="t" l="l"/>
              <a:pathLst>
                <a:path h="2167467" w="2817054">
                  <a:moveTo>
                    <a:pt x="57905" y="0"/>
                  </a:moveTo>
                  <a:lnTo>
                    <a:pt x="2759149" y="0"/>
                  </a:lnTo>
                  <a:cubicBezTo>
                    <a:pt x="2774507" y="0"/>
                    <a:pt x="2789235" y="6101"/>
                    <a:pt x="2800094" y="16960"/>
                  </a:cubicBezTo>
                  <a:cubicBezTo>
                    <a:pt x="2810954" y="27819"/>
                    <a:pt x="2817054" y="42548"/>
                    <a:pt x="2817054" y="57905"/>
                  </a:cubicBezTo>
                  <a:lnTo>
                    <a:pt x="2817054" y="2109562"/>
                  </a:lnTo>
                  <a:cubicBezTo>
                    <a:pt x="2817054" y="2124919"/>
                    <a:pt x="2810954" y="2139647"/>
                    <a:pt x="2800094" y="2150507"/>
                  </a:cubicBezTo>
                  <a:cubicBezTo>
                    <a:pt x="2789235" y="2161366"/>
                    <a:pt x="2774507" y="2167467"/>
                    <a:pt x="2759149" y="2167467"/>
                  </a:cubicBezTo>
                  <a:lnTo>
                    <a:pt x="57905" y="2167467"/>
                  </a:lnTo>
                  <a:cubicBezTo>
                    <a:pt x="42548" y="2167467"/>
                    <a:pt x="27819" y="2161366"/>
                    <a:pt x="16960" y="2150507"/>
                  </a:cubicBezTo>
                  <a:cubicBezTo>
                    <a:pt x="6101" y="2139647"/>
                    <a:pt x="0" y="2124919"/>
                    <a:pt x="0" y="2109562"/>
                  </a:cubicBezTo>
                  <a:lnTo>
                    <a:pt x="0" y="57905"/>
                  </a:lnTo>
                  <a:cubicBezTo>
                    <a:pt x="0" y="42548"/>
                    <a:pt x="6101" y="27819"/>
                    <a:pt x="16960" y="16960"/>
                  </a:cubicBezTo>
                  <a:cubicBezTo>
                    <a:pt x="27819" y="6101"/>
                    <a:pt x="42548" y="0"/>
                    <a:pt x="57905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817054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952237" y="1028700"/>
            <a:ext cx="5307063" cy="8229600"/>
            <a:chOff x="0" y="0"/>
            <a:chExt cx="1397745" cy="21674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97745" cy="2167467"/>
            </a:xfrm>
            <a:custGeom>
              <a:avLst/>
              <a:gdLst/>
              <a:ahLst/>
              <a:cxnLst/>
              <a:rect r="r" b="b" t="t" l="l"/>
              <a:pathLst>
                <a:path h="2167467" w="1397745">
                  <a:moveTo>
                    <a:pt x="116704" y="0"/>
                  </a:moveTo>
                  <a:lnTo>
                    <a:pt x="1281041" y="0"/>
                  </a:lnTo>
                  <a:cubicBezTo>
                    <a:pt x="1345495" y="0"/>
                    <a:pt x="1397745" y="52250"/>
                    <a:pt x="1397745" y="116704"/>
                  </a:cubicBezTo>
                  <a:lnTo>
                    <a:pt x="1397745" y="2050763"/>
                  </a:lnTo>
                  <a:cubicBezTo>
                    <a:pt x="1397745" y="2081715"/>
                    <a:pt x="1385450" y="2111399"/>
                    <a:pt x="1363563" y="2133285"/>
                  </a:cubicBezTo>
                  <a:cubicBezTo>
                    <a:pt x="1341677" y="2155171"/>
                    <a:pt x="1311993" y="2167467"/>
                    <a:pt x="1281041" y="2167467"/>
                  </a:cubicBezTo>
                  <a:lnTo>
                    <a:pt x="116704" y="2167467"/>
                  </a:lnTo>
                  <a:cubicBezTo>
                    <a:pt x="85752" y="2167467"/>
                    <a:pt x="56068" y="2155171"/>
                    <a:pt x="34182" y="2133285"/>
                  </a:cubicBezTo>
                  <a:cubicBezTo>
                    <a:pt x="12296" y="2111399"/>
                    <a:pt x="0" y="2081715"/>
                    <a:pt x="0" y="2050763"/>
                  </a:cubicBezTo>
                  <a:lnTo>
                    <a:pt x="0" y="116704"/>
                  </a:lnTo>
                  <a:cubicBezTo>
                    <a:pt x="0" y="85752"/>
                    <a:pt x="12296" y="56068"/>
                    <a:pt x="34182" y="34182"/>
                  </a:cubicBezTo>
                  <a:cubicBezTo>
                    <a:pt x="56068" y="12296"/>
                    <a:pt x="85752" y="0"/>
                    <a:pt x="116704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397745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22157" y="1356790"/>
            <a:ext cx="4567223" cy="7573420"/>
            <a:chOff x="0" y="0"/>
            <a:chExt cx="6089630" cy="10097893"/>
          </a:xfrm>
        </p:grpSpPr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2"/>
            <a:srcRect l="4657" t="0" r="4657" b="0"/>
            <a:stretch>
              <a:fillRect/>
            </a:stretch>
          </p:blipFill>
          <p:spPr>
            <a:xfrm flipH="false" flipV="false">
              <a:off x="0" y="0"/>
              <a:ext cx="6089630" cy="10097893"/>
            </a:xfrm>
            <a:prstGeom prst="rect">
              <a:avLst/>
            </a:prstGeom>
          </p:spPr>
        </p:pic>
      </p:grpSp>
      <p:sp>
        <p:nvSpPr>
          <p:cNvPr name="TextBox 10" id="10"/>
          <p:cNvSpPr txBox="true"/>
          <p:nvPr/>
        </p:nvSpPr>
        <p:spPr>
          <a:xfrm rot="0">
            <a:off x="1832577" y="1781518"/>
            <a:ext cx="9088250" cy="89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</a:pPr>
            <a:r>
              <a:rPr lang="en-US" sz="5850" spc="-181">
                <a:solidFill>
                  <a:srgbClr val="0000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Nossa Motivação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10006" y="3338307"/>
            <a:ext cx="9044930" cy="4453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spc="-13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Cenário Atual</a:t>
            </a:r>
            <a:r>
              <a:rPr lang="en-US" sz="2799" spc="-13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O xadrez exige alto nível de conhecimento teórico e treinamento prático para competições.</a:t>
            </a:r>
          </a:p>
          <a:p>
            <a:pPr algn="l">
              <a:lnSpc>
                <a:spcPts val="3919"/>
              </a:lnSpc>
            </a:pPr>
            <a:r>
              <a:rPr lang="en-US" sz="2799" spc="-13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 Complexidade</a:t>
            </a:r>
            <a:r>
              <a:rPr lang="en-US" sz="2799" spc="-13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Preparar-se para torneios demanda o domínio de diferentes conceitos e estratégias.</a:t>
            </a:r>
          </a:p>
          <a:p>
            <a:pPr algn="l">
              <a:lnSpc>
                <a:spcPts val="3919"/>
              </a:lnSpc>
            </a:pPr>
            <a:r>
              <a:rPr lang="en-US" sz="2799" spc="-13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 Dor do Usuário</a:t>
            </a:r>
            <a:r>
              <a:rPr lang="en-US" sz="2799" spc="-13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Jogadores iniciantes frequentemente se sentem perdidos ao tentar organizar seus materiais e rotinas de estudo.</a:t>
            </a:r>
          </a:p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b="true" sz="2799" spc="-139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 Oportunidade</a:t>
            </a:r>
            <a:r>
              <a:rPr lang="en-US" sz="2799" spc="-13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A tecnologia surge como uma solução para unificar, estruturar e apoiar essa jornada de evolução.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262326" y="1791043"/>
            <a:ext cx="392610" cy="437062"/>
            <a:chOff x="0" y="0"/>
            <a:chExt cx="523480" cy="582749"/>
          </a:xfrm>
        </p:grpSpPr>
        <p:grpSp>
          <p:nvGrpSpPr>
            <p:cNvPr name="Group 13" id="13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7753107" cy="8229600"/>
            <a:chOff x="0" y="0"/>
            <a:chExt cx="20419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419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2041971">
                  <a:moveTo>
                    <a:pt x="79885" y="0"/>
                  </a:moveTo>
                  <a:lnTo>
                    <a:pt x="1962086" y="0"/>
                  </a:lnTo>
                  <a:cubicBezTo>
                    <a:pt x="2006205" y="0"/>
                    <a:pt x="2041971" y="35766"/>
                    <a:pt x="2041971" y="79885"/>
                  </a:cubicBezTo>
                  <a:lnTo>
                    <a:pt x="2041971" y="2087582"/>
                  </a:lnTo>
                  <a:cubicBezTo>
                    <a:pt x="2041971" y="2131701"/>
                    <a:pt x="2006205" y="2167467"/>
                    <a:pt x="1962086" y="2167467"/>
                  </a:cubicBezTo>
                  <a:lnTo>
                    <a:pt x="79885" y="2167467"/>
                  </a:lnTo>
                  <a:cubicBezTo>
                    <a:pt x="58698" y="2167467"/>
                    <a:pt x="38379" y="2159050"/>
                    <a:pt x="23398" y="2144069"/>
                  </a:cubicBezTo>
                  <a:cubicBezTo>
                    <a:pt x="8416" y="2129088"/>
                    <a:pt x="0" y="2108769"/>
                    <a:pt x="0" y="2087582"/>
                  </a:cubicBezTo>
                  <a:lnTo>
                    <a:pt x="0" y="79885"/>
                  </a:lnTo>
                  <a:cubicBezTo>
                    <a:pt x="0" y="35766"/>
                    <a:pt x="35766" y="0"/>
                    <a:pt x="79885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041971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79511" y="1356790"/>
            <a:ext cx="7051486" cy="7573420"/>
            <a:chOff x="0" y="0"/>
            <a:chExt cx="9401981" cy="10097893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2"/>
            <a:srcRect l="19041" t="0" r="19041" b="0"/>
            <a:stretch>
              <a:fillRect/>
            </a:stretch>
          </p:blipFill>
          <p:spPr>
            <a:xfrm flipH="false" flipV="false">
              <a:off x="0" y="0"/>
              <a:ext cx="9401981" cy="10097893"/>
            </a:xfrm>
            <a:prstGeom prst="rect">
              <a:avLst/>
            </a:prstGeom>
          </p:spPr>
        </p:pic>
      </p:grpSp>
      <p:sp>
        <p:nvSpPr>
          <p:cNvPr name="TextBox 7" id="7"/>
          <p:cNvSpPr txBox="true"/>
          <p:nvPr/>
        </p:nvSpPr>
        <p:spPr>
          <a:xfrm rot="0">
            <a:off x="9485048" y="1912317"/>
            <a:ext cx="8342971" cy="2148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77"/>
              </a:lnSpc>
            </a:pPr>
            <a:r>
              <a:rPr lang="en-US" sz="4100" spc="-127">
                <a:solidFill>
                  <a:srgbClr val="0000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Como utilizar uma plataforma web para auxiliar jogadores na preparação e no estudo dos fundamentos do xadrez?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40305" y="4995856"/>
            <a:ext cx="6446009" cy="3537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999" spc="-14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Organização do Conteúdo</a:t>
            </a:r>
            <a:r>
              <a:rPr lang="en-US" sz="2999" spc="-14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Estruturação clara de rotinas e materiais de estudo.</a:t>
            </a:r>
          </a:p>
          <a:p>
            <a:pPr algn="l">
              <a:lnSpc>
                <a:spcPts val="3119"/>
              </a:lnSpc>
            </a:pPr>
            <a:r>
              <a:rPr lang="en-US" sz="2999" spc="-14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Aprendizado Teórico</a:t>
            </a:r>
            <a:r>
              <a:rPr lang="en-US" sz="2999" spc="-14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Acesso facilitado a conceitos essenciais, aberturas e táticas.</a:t>
            </a:r>
          </a:p>
          <a:p>
            <a:pPr algn="l">
              <a:lnSpc>
                <a:spcPts val="3119"/>
              </a:lnSpc>
            </a:pPr>
            <a:r>
              <a:rPr lang="en-US" sz="2999" spc="-149" b="true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Aplicação Prática</a:t>
            </a:r>
            <a:r>
              <a:rPr lang="en-US" sz="2999" spc="-149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: Espaço para treinar os conhecimentos em cenários reais de jogo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6866690" y="919728"/>
            <a:ext cx="392610" cy="437062"/>
            <a:chOff x="0" y="0"/>
            <a:chExt cx="523480" cy="582749"/>
          </a:xfrm>
        </p:grpSpPr>
        <p:grpSp>
          <p:nvGrpSpPr>
            <p:cNvPr name="Group 10" id="10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22" id="22"/>
          <p:cNvGrpSpPr/>
          <p:nvPr/>
        </p:nvGrpSpPr>
        <p:grpSpPr>
          <a:xfrm rot="0">
            <a:off x="9144000" y="9039769"/>
            <a:ext cx="392610" cy="437062"/>
            <a:chOff x="0" y="0"/>
            <a:chExt cx="523480" cy="582749"/>
          </a:xfrm>
        </p:grpSpPr>
        <p:grpSp>
          <p:nvGrpSpPr>
            <p:cNvPr name="Group 23" id="23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096832" cy="8229600"/>
            <a:chOff x="0" y="0"/>
            <a:chExt cx="4239495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39495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39495">
                  <a:moveTo>
                    <a:pt x="38477" y="0"/>
                  </a:moveTo>
                  <a:lnTo>
                    <a:pt x="4201018" y="0"/>
                  </a:lnTo>
                  <a:cubicBezTo>
                    <a:pt x="4211223" y="0"/>
                    <a:pt x="4221009" y="4054"/>
                    <a:pt x="4228225" y="11270"/>
                  </a:cubicBezTo>
                  <a:cubicBezTo>
                    <a:pt x="4235441" y="18485"/>
                    <a:pt x="4239495" y="28272"/>
                    <a:pt x="4239495" y="38477"/>
                  </a:cubicBezTo>
                  <a:lnTo>
                    <a:pt x="4239495" y="2128990"/>
                  </a:lnTo>
                  <a:cubicBezTo>
                    <a:pt x="4239495" y="2150240"/>
                    <a:pt x="4222268" y="2167467"/>
                    <a:pt x="4201018" y="2167467"/>
                  </a:cubicBezTo>
                  <a:lnTo>
                    <a:pt x="38477" y="2167467"/>
                  </a:lnTo>
                  <a:cubicBezTo>
                    <a:pt x="17227" y="2167467"/>
                    <a:pt x="0" y="2150240"/>
                    <a:pt x="0" y="2128990"/>
                  </a:cubicBezTo>
                  <a:lnTo>
                    <a:pt x="0" y="38477"/>
                  </a:lnTo>
                  <a:cubicBezTo>
                    <a:pt x="0" y="17227"/>
                    <a:pt x="17227" y="0"/>
                    <a:pt x="38477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39495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857003" y="1356790"/>
            <a:ext cx="7051486" cy="7573420"/>
            <a:chOff x="0" y="0"/>
            <a:chExt cx="9401981" cy="10097893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2"/>
            <a:srcRect l="14618" t="0" r="14618" b="0"/>
            <a:stretch>
              <a:fillRect/>
            </a:stretch>
          </p:blipFill>
          <p:spPr>
            <a:xfrm flipH="false" flipV="false">
              <a:off x="0" y="0"/>
              <a:ext cx="9401981" cy="10097893"/>
            </a:xfrm>
            <a:prstGeom prst="rect">
              <a:avLst/>
            </a:prstGeom>
          </p:spPr>
        </p:pic>
      </p:grpSp>
      <p:grpSp>
        <p:nvGrpSpPr>
          <p:cNvPr name="Group 7" id="7"/>
          <p:cNvGrpSpPr/>
          <p:nvPr/>
        </p:nvGrpSpPr>
        <p:grpSpPr>
          <a:xfrm rot="0">
            <a:off x="1884302" y="2278556"/>
            <a:ext cx="7972702" cy="7298894"/>
            <a:chOff x="0" y="0"/>
            <a:chExt cx="10630269" cy="9731859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28575"/>
              <a:ext cx="9604946" cy="12390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20"/>
                </a:lnSpc>
              </a:pPr>
              <a:r>
                <a:rPr lang="en-US" sz="6000" spc="-186">
                  <a:solidFill>
                    <a:srgbClr val="000000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Motivação 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1690342"/>
              <a:ext cx="8814071" cy="52112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Bold"/>
                  <a:ea typeface="Inter Bold"/>
                  <a:cs typeface="Inter Bold"/>
                  <a:sym typeface="Inter Bold"/>
                </a:rPr>
                <a:t>União de Paixões</a:t>
              </a:r>
              <a:r>
                <a:rPr lang="en-US" sz="2499" spc="-124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: Alinhamento entre o interesse pessoal pelo xadrez e o desenvolvimento tecnológico.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Bold"/>
                  <a:ea typeface="Inter Bold"/>
                  <a:cs typeface="Inter Bold"/>
                  <a:sym typeface="Inter Bold"/>
                </a:rPr>
                <a:t>Demanda de Mercado</a:t>
              </a:r>
              <a:r>
                <a:rPr lang="en-US" sz="2499" spc="-124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: Necessidade real de centralizar e organizar conteúdos dispersos de estudo.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Aplicação Prática da ETEC</a:t>
              </a:r>
              <a:r>
                <a:rPr lang="en-US" sz="2499" spc="-124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: Oportunidade de aplicar os conhecimentos de Desenvolvimento de Sistemas adquiridos no curso.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Bold"/>
                  <a:ea typeface="Inter Bold"/>
                  <a:cs typeface="Inter Bold"/>
                  <a:sym typeface="Inter Bold"/>
                </a:rPr>
                <a:t>Inclusão e Acessibilidade</a:t>
              </a:r>
              <a:r>
                <a:rPr lang="en-US" sz="2499" spc="-124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: Criação de uma ferramenta educacional gratuita e acessível para democratizar o xadrez competitivo.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9327409"/>
              <a:ext cx="10630269" cy="404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235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-5400000">
            <a:off x="8961408" y="3904754"/>
            <a:ext cx="392610" cy="437062"/>
            <a:chOff x="0" y="0"/>
            <a:chExt cx="523480" cy="582749"/>
          </a:xfrm>
        </p:grpSpPr>
        <p:grpSp>
          <p:nvGrpSpPr>
            <p:cNvPr name="Group 12" id="12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256874" y="1716551"/>
            <a:ext cx="7774252" cy="89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75"/>
              </a:lnSpc>
            </a:pPr>
            <a:r>
              <a:rPr lang="en-US" sz="5850" spc="-181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OBJETIVOS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920996" y="3323702"/>
            <a:ext cx="6446009" cy="54902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Organização: Estruturar os conteúdos fundamentais do jogo.</a:t>
            </a:r>
          </a:p>
          <a:p>
            <a:pPr algn="ctr">
              <a:lnSpc>
                <a:spcPts val="3119"/>
              </a:lnSpc>
            </a:pPr>
          </a:p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Didática: Apresentar conceitos de maneira clara e acessível.</a:t>
            </a:r>
          </a:p>
          <a:p>
            <a:pPr algn="ctr">
              <a:lnSpc>
                <a:spcPts val="3119"/>
              </a:lnSpc>
            </a:pPr>
          </a:p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Fixação: Criar exercícios práticos relacionados aos temas estudados.</a:t>
            </a:r>
          </a:p>
          <a:p>
            <a:pPr algn="ctr">
              <a:lnSpc>
                <a:spcPts val="3119"/>
              </a:lnSpc>
            </a:pPr>
          </a:p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Prática: Permitir que o usuário aplique e teste os conhecimentos adquiridos.</a:t>
            </a:r>
          </a:p>
          <a:p>
            <a:pPr algn="ctr">
              <a:lnSpc>
                <a:spcPts val="3119"/>
              </a:lnSpc>
            </a:pPr>
          </a:p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UI: Desenvolver uma interface simples, amigável e intuitiva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-1202435"/>
            <a:ext cx="4421820" cy="10460735"/>
            <a:chOff x="0" y="0"/>
            <a:chExt cx="1164595" cy="275509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64595" cy="2755091"/>
            </a:xfrm>
            <a:custGeom>
              <a:avLst/>
              <a:gdLst/>
              <a:ahLst/>
              <a:cxnLst/>
              <a:rect r="r" b="b" t="t" l="l"/>
              <a:pathLst>
                <a:path h="2755091" w="1164595">
                  <a:moveTo>
                    <a:pt x="140068" y="0"/>
                  </a:moveTo>
                  <a:lnTo>
                    <a:pt x="1024527" y="0"/>
                  </a:lnTo>
                  <a:cubicBezTo>
                    <a:pt x="1061675" y="0"/>
                    <a:pt x="1097302" y="14757"/>
                    <a:pt x="1123570" y="41025"/>
                  </a:cubicBezTo>
                  <a:cubicBezTo>
                    <a:pt x="1149837" y="67293"/>
                    <a:pt x="1164595" y="102919"/>
                    <a:pt x="1164595" y="140068"/>
                  </a:cubicBezTo>
                  <a:lnTo>
                    <a:pt x="1164595" y="2615023"/>
                  </a:lnTo>
                  <a:cubicBezTo>
                    <a:pt x="1164595" y="2652171"/>
                    <a:pt x="1149837" y="2687798"/>
                    <a:pt x="1123570" y="2714066"/>
                  </a:cubicBezTo>
                  <a:cubicBezTo>
                    <a:pt x="1097302" y="2740334"/>
                    <a:pt x="1061675" y="2755091"/>
                    <a:pt x="1024527" y="2755091"/>
                  </a:cubicBezTo>
                  <a:lnTo>
                    <a:pt x="140068" y="2755091"/>
                  </a:lnTo>
                  <a:cubicBezTo>
                    <a:pt x="62710" y="2755091"/>
                    <a:pt x="0" y="2692380"/>
                    <a:pt x="0" y="2615023"/>
                  </a:cubicBezTo>
                  <a:lnTo>
                    <a:pt x="0" y="140068"/>
                  </a:lnTo>
                  <a:cubicBezTo>
                    <a:pt x="0" y="62710"/>
                    <a:pt x="62710" y="0"/>
                    <a:pt x="140068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164595" cy="28027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4082384" y="1028700"/>
            <a:ext cx="4205616" cy="10878098"/>
            <a:chOff x="0" y="0"/>
            <a:chExt cx="1107652" cy="286501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107652" cy="2865013"/>
            </a:xfrm>
            <a:custGeom>
              <a:avLst/>
              <a:gdLst/>
              <a:ahLst/>
              <a:cxnLst/>
              <a:rect r="r" b="b" t="t" l="l"/>
              <a:pathLst>
                <a:path h="2865013" w="1107652">
                  <a:moveTo>
                    <a:pt x="147268" y="0"/>
                  </a:moveTo>
                  <a:lnTo>
                    <a:pt x="960384" y="0"/>
                  </a:lnTo>
                  <a:cubicBezTo>
                    <a:pt x="1041718" y="0"/>
                    <a:pt x="1107652" y="65934"/>
                    <a:pt x="1107652" y="147268"/>
                  </a:cubicBezTo>
                  <a:lnTo>
                    <a:pt x="1107652" y="2717745"/>
                  </a:lnTo>
                  <a:cubicBezTo>
                    <a:pt x="1107652" y="2756803"/>
                    <a:pt x="1092136" y="2794261"/>
                    <a:pt x="1064518" y="2821880"/>
                  </a:cubicBezTo>
                  <a:cubicBezTo>
                    <a:pt x="1036900" y="2849498"/>
                    <a:pt x="999442" y="2865013"/>
                    <a:pt x="960384" y="2865013"/>
                  </a:cubicBezTo>
                  <a:lnTo>
                    <a:pt x="147268" y="2865013"/>
                  </a:lnTo>
                  <a:cubicBezTo>
                    <a:pt x="108210" y="2865013"/>
                    <a:pt x="70752" y="2849498"/>
                    <a:pt x="43134" y="2821880"/>
                  </a:cubicBezTo>
                  <a:cubicBezTo>
                    <a:pt x="15516" y="2794261"/>
                    <a:pt x="0" y="2756803"/>
                    <a:pt x="0" y="2717745"/>
                  </a:cubicBezTo>
                  <a:lnTo>
                    <a:pt x="0" y="147268"/>
                  </a:lnTo>
                  <a:cubicBezTo>
                    <a:pt x="0" y="108210"/>
                    <a:pt x="15516" y="70752"/>
                    <a:pt x="43134" y="43134"/>
                  </a:cubicBezTo>
                  <a:cubicBezTo>
                    <a:pt x="70752" y="15516"/>
                    <a:pt x="108210" y="0"/>
                    <a:pt x="147268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107652" cy="29126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439400" y="-408064"/>
            <a:ext cx="3543021" cy="9221975"/>
            <a:chOff x="0" y="0"/>
            <a:chExt cx="4724028" cy="12295967"/>
          </a:xfrm>
        </p:grpSpPr>
        <p:pic>
          <p:nvPicPr>
            <p:cNvPr name="Picture 11" id="11"/>
            <p:cNvPicPr>
              <a:picLocks noChangeAspect="true"/>
            </p:cNvPicPr>
            <p:nvPr/>
          </p:nvPicPr>
          <p:blipFill>
            <a:blip r:embed="rId2"/>
            <a:srcRect l="36937" t="0" r="36937" b="0"/>
            <a:stretch>
              <a:fillRect/>
            </a:stretch>
          </p:blipFill>
          <p:spPr>
            <a:xfrm flipH="false" flipV="false">
              <a:off x="0" y="0"/>
              <a:ext cx="4724028" cy="12295967"/>
            </a:xfrm>
            <a:prstGeom prst="rect">
              <a:avLst/>
            </a:prstGeom>
          </p:spPr>
        </p:pic>
      </p:grpSp>
      <p:grpSp>
        <p:nvGrpSpPr>
          <p:cNvPr name="Group 12" id="12"/>
          <p:cNvGrpSpPr/>
          <p:nvPr/>
        </p:nvGrpSpPr>
        <p:grpSpPr>
          <a:xfrm rot="0">
            <a:off x="14413682" y="1464456"/>
            <a:ext cx="3543021" cy="9221975"/>
            <a:chOff x="0" y="0"/>
            <a:chExt cx="4724028" cy="12295967"/>
          </a:xfrm>
        </p:grpSpPr>
        <p:pic>
          <p:nvPicPr>
            <p:cNvPr name="Picture 13" id="13"/>
            <p:cNvPicPr>
              <a:picLocks noChangeAspect="true"/>
            </p:cNvPicPr>
            <p:nvPr/>
          </p:nvPicPr>
          <p:blipFill>
            <a:blip r:embed="rId3"/>
            <a:srcRect l="25987" t="0" r="25987" b="0"/>
            <a:stretch>
              <a:fillRect/>
            </a:stretch>
          </p:blipFill>
          <p:spPr>
            <a:xfrm flipH="false" flipV="false">
              <a:off x="0" y="0"/>
              <a:ext cx="4724028" cy="12295967"/>
            </a:xfrm>
            <a:prstGeom prst="rect">
              <a:avLst/>
            </a:prstGeom>
          </p:spPr>
        </p:pic>
      </p:grpSp>
      <p:grpSp>
        <p:nvGrpSpPr>
          <p:cNvPr name="Group 14" id="14"/>
          <p:cNvGrpSpPr/>
          <p:nvPr/>
        </p:nvGrpSpPr>
        <p:grpSpPr>
          <a:xfrm rot="0">
            <a:off x="13031126" y="810169"/>
            <a:ext cx="392610" cy="437062"/>
            <a:chOff x="0" y="0"/>
            <a:chExt cx="523480" cy="582749"/>
          </a:xfrm>
        </p:grpSpPr>
        <p:grpSp>
          <p:nvGrpSpPr>
            <p:cNvPr name="Group 15" id="15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4" id="24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27" id="27"/>
          <p:cNvGrpSpPr/>
          <p:nvPr/>
        </p:nvGrpSpPr>
        <p:grpSpPr>
          <a:xfrm rot="0">
            <a:off x="4864264" y="9039769"/>
            <a:ext cx="392610" cy="437062"/>
            <a:chOff x="0" y="0"/>
            <a:chExt cx="523480" cy="582749"/>
          </a:xfrm>
        </p:grpSpPr>
        <p:grpSp>
          <p:nvGrpSpPr>
            <p:cNvPr name="Group 28" id="28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096832" cy="8229600"/>
            <a:chOff x="0" y="0"/>
            <a:chExt cx="4239495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39495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39495">
                  <a:moveTo>
                    <a:pt x="38477" y="0"/>
                  </a:moveTo>
                  <a:lnTo>
                    <a:pt x="4201018" y="0"/>
                  </a:lnTo>
                  <a:cubicBezTo>
                    <a:pt x="4211223" y="0"/>
                    <a:pt x="4221009" y="4054"/>
                    <a:pt x="4228225" y="11270"/>
                  </a:cubicBezTo>
                  <a:cubicBezTo>
                    <a:pt x="4235441" y="18485"/>
                    <a:pt x="4239495" y="28272"/>
                    <a:pt x="4239495" y="38477"/>
                  </a:cubicBezTo>
                  <a:lnTo>
                    <a:pt x="4239495" y="2128990"/>
                  </a:lnTo>
                  <a:cubicBezTo>
                    <a:pt x="4239495" y="2150240"/>
                    <a:pt x="4222268" y="2167467"/>
                    <a:pt x="4201018" y="2167467"/>
                  </a:cubicBezTo>
                  <a:lnTo>
                    <a:pt x="38477" y="2167467"/>
                  </a:lnTo>
                  <a:cubicBezTo>
                    <a:pt x="17227" y="2167467"/>
                    <a:pt x="0" y="2150240"/>
                    <a:pt x="0" y="2128990"/>
                  </a:cubicBezTo>
                  <a:lnTo>
                    <a:pt x="0" y="38477"/>
                  </a:lnTo>
                  <a:cubicBezTo>
                    <a:pt x="0" y="17227"/>
                    <a:pt x="17227" y="0"/>
                    <a:pt x="38477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39495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857003" y="1356790"/>
            <a:ext cx="7051486" cy="7573420"/>
            <a:chOff x="0" y="0"/>
            <a:chExt cx="9401981" cy="10097893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2"/>
            <a:srcRect l="19041" t="0" r="19041" b="0"/>
            <a:stretch>
              <a:fillRect/>
            </a:stretch>
          </p:blipFill>
          <p:spPr>
            <a:xfrm flipH="false" flipV="false">
              <a:off x="0" y="0"/>
              <a:ext cx="9401981" cy="10097893"/>
            </a:xfrm>
            <a:prstGeom prst="rect">
              <a:avLst/>
            </a:prstGeom>
          </p:spPr>
        </p:pic>
      </p:grpSp>
      <p:grpSp>
        <p:nvGrpSpPr>
          <p:cNvPr name="Group 7" id="7"/>
          <p:cNvGrpSpPr/>
          <p:nvPr/>
        </p:nvGrpSpPr>
        <p:grpSpPr>
          <a:xfrm rot="0">
            <a:off x="1884302" y="2278556"/>
            <a:ext cx="7972702" cy="7027432"/>
            <a:chOff x="0" y="0"/>
            <a:chExt cx="10630269" cy="9369909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28575"/>
              <a:ext cx="9604946" cy="12390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820"/>
                </a:lnSpc>
              </a:pPr>
              <a:r>
                <a:rPr lang="en-US" sz="6000" spc="-186">
                  <a:solidFill>
                    <a:srgbClr val="000000"/>
                  </a:solidFill>
                  <a:latin typeface="Heading Now 71-78"/>
                  <a:ea typeface="Heading Now 71-78"/>
                  <a:cs typeface="Heading Now 71-78"/>
                  <a:sym typeface="Heading Now 71-78"/>
                </a:rPr>
                <a:t>Metodologia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373777"/>
              <a:ext cx="8814071" cy="48492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Pesquisa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↓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Planejamento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↓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Definição de conteúdo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↓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Desenvolvimento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↓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Exercícios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↓</a:t>
              </a:r>
            </a:p>
            <a:p>
              <a:pPr algn="l">
                <a:lnSpc>
                  <a:spcPts val="2599"/>
                </a:lnSpc>
              </a:pPr>
              <a:r>
                <a:rPr lang="en-US" sz="2499" spc="-124" b="true">
                  <a:solidFill>
                    <a:srgbClr val="000000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Teste Final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965459"/>
              <a:ext cx="10630269" cy="404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235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-5400000">
            <a:off x="8961408" y="3904754"/>
            <a:ext cx="392610" cy="437062"/>
            <a:chOff x="0" y="0"/>
            <a:chExt cx="523480" cy="582749"/>
          </a:xfrm>
        </p:grpSpPr>
        <p:grpSp>
          <p:nvGrpSpPr>
            <p:cNvPr name="Group 12" id="12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1" id="21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10169" y="1726076"/>
            <a:ext cx="9154596" cy="6740119"/>
            <a:chOff x="0" y="0"/>
            <a:chExt cx="1840788" cy="13552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40788" cy="1355290"/>
            </a:xfrm>
            <a:custGeom>
              <a:avLst/>
              <a:gdLst/>
              <a:ahLst/>
              <a:cxnLst/>
              <a:rect r="r" b="b" t="t" l="l"/>
              <a:pathLst>
                <a:path h="1355290" w="1840788">
                  <a:moveTo>
                    <a:pt x="67655" y="0"/>
                  </a:moveTo>
                  <a:lnTo>
                    <a:pt x="1773133" y="0"/>
                  </a:lnTo>
                  <a:cubicBezTo>
                    <a:pt x="1791076" y="0"/>
                    <a:pt x="1808284" y="7128"/>
                    <a:pt x="1820972" y="19816"/>
                  </a:cubicBezTo>
                  <a:cubicBezTo>
                    <a:pt x="1833660" y="32503"/>
                    <a:pt x="1840788" y="49712"/>
                    <a:pt x="1840788" y="67655"/>
                  </a:cubicBezTo>
                  <a:lnTo>
                    <a:pt x="1840788" y="1287635"/>
                  </a:lnTo>
                  <a:cubicBezTo>
                    <a:pt x="1840788" y="1305578"/>
                    <a:pt x="1833660" y="1322786"/>
                    <a:pt x="1820972" y="1335474"/>
                  </a:cubicBezTo>
                  <a:cubicBezTo>
                    <a:pt x="1808284" y="1348162"/>
                    <a:pt x="1791076" y="1355290"/>
                    <a:pt x="1773133" y="1355290"/>
                  </a:cubicBezTo>
                  <a:lnTo>
                    <a:pt x="67655" y="1355290"/>
                  </a:lnTo>
                  <a:cubicBezTo>
                    <a:pt x="49712" y="1355290"/>
                    <a:pt x="32503" y="1348162"/>
                    <a:pt x="19816" y="1335474"/>
                  </a:cubicBezTo>
                  <a:cubicBezTo>
                    <a:pt x="7128" y="1322786"/>
                    <a:pt x="0" y="1305578"/>
                    <a:pt x="0" y="1287635"/>
                  </a:cubicBezTo>
                  <a:lnTo>
                    <a:pt x="0" y="67655"/>
                  </a:lnTo>
                  <a:cubicBezTo>
                    <a:pt x="0" y="49712"/>
                    <a:pt x="7128" y="32503"/>
                    <a:pt x="19816" y="19816"/>
                  </a:cubicBezTo>
                  <a:cubicBezTo>
                    <a:pt x="32503" y="7128"/>
                    <a:pt x="49712" y="0"/>
                    <a:pt x="67655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840788" cy="1402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61806" y="2061187"/>
            <a:ext cx="8251323" cy="6069897"/>
            <a:chOff x="0" y="0"/>
            <a:chExt cx="11001764" cy="8093196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2"/>
            <a:srcRect l="11785" t="0" r="11785" b="0"/>
            <a:stretch>
              <a:fillRect/>
            </a:stretch>
          </p:blipFill>
          <p:spPr>
            <a:xfrm flipH="false" flipV="false">
              <a:off x="0" y="0"/>
              <a:ext cx="11001764" cy="8093196"/>
            </a:xfrm>
            <a:prstGeom prst="rect">
              <a:avLst/>
            </a:prstGeom>
          </p:spPr>
        </p:pic>
      </p:grpSp>
      <p:grpSp>
        <p:nvGrpSpPr>
          <p:cNvPr name="Group 7" id="7"/>
          <p:cNvGrpSpPr/>
          <p:nvPr/>
        </p:nvGrpSpPr>
        <p:grpSpPr>
          <a:xfrm rot="0">
            <a:off x="11357387" y="276254"/>
            <a:ext cx="6268941" cy="9231081"/>
            <a:chOff x="0" y="0"/>
            <a:chExt cx="1840788" cy="271057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840788" cy="2710579"/>
            </a:xfrm>
            <a:custGeom>
              <a:avLst/>
              <a:gdLst/>
              <a:ahLst/>
              <a:cxnLst/>
              <a:rect r="r" b="b" t="t" l="l"/>
              <a:pathLst>
                <a:path h="2710579" w="1840788">
                  <a:moveTo>
                    <a:pt x="98797" y="0"/>
                  </a:moveTo>
                  <a:lnTo>
                    <a:pt x="1741991" y="0"/>
                  </a:lnTo>
                  <a:cubicBezTo>
                    <a:pt x="1796555" y="0"/>
                    <a:pt x="1840788" y="44233"/>
                    <a:pt x="1840788" y="98797"/>
                  </a:cubicBezTo>
                  <a:lnTo>
                    <a:pt x="1840788" y="2611782"/>
                  </a:lnTo>
                  <a:cubicBezTo>
                    <a:pt x="1840788" y="2666346"/>
                    <a:pt x="1796555" y="2710579"/>
                    <a:pt x="1741991" y="2710579"/>
                  </a:cubicBezTo>
                  <a:lnTo>
                    <a:pt x="98797" y="2710579"/>
                  </a:lnTo>
                  <a:cubicBezTo>
                    <a:pt x="44233" y="2710579"/>
                    <a:pt x="0" y="2666346"/>
                    <a:pt x="0" y="2611782"/>
                  </a:cubicBezTo>
                  <a:lnTo>
                    <a:pt x="0" y="98797"/>
                  </a:lnTo>
                  <a:cubicBezTo>
                    <a:pt x="0" y="44233"/>
                    <a:pt x="44233" y="0"/>
                    <a:pt x="98797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840788" cy="2758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5400000">
            <a:off x="16931641" y="3445893"/>
            <a:ext cx="392610" cy="437062"/>
            <a:chOff x="0" y="0"/>
            <a:chExt cx="523480" cy="582749"/>
          </a:xfrm>
        </p:grpSpPr>
        <p:grpSp>
          <p:nvGrpSpPr>
            <p:cNvPr name="Group 11" id="11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sp>
        <p:nvSpPr>
          <p:cNvPr name="TextBox 23" id="23"/>
          <p:cNvSpPr txBox="true"/>
          <p:nvPr/>
        </p:nvSpPr>
        <p:spPr>
          <a:xfrm rot="0">
            <a:off x="1373510" y="438667"/>
            <a:ext cx="7024401" cy="89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</a:pPr>
            <a:r>
              <a:rPr lang="en-US" sz="5850" spc="-181" u="sng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Interface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357387" y="276254"/>
            <a:ext cx="6268941" cy="4615540"/>
            <a:chOff x="0" y="0"/>
            <a:chExt cx="1840788" cy="135529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840788" cy="1355290"/>
            </a:xfrm>
            <a:custGeom>
              <a:avLst/>
              <a:gdLst/>
              <a:ahLst/>
              <a:cxnLst/>
              <a:rect r="r" b="b" t="t" l="l"/>
              <a:pathLst>
                <a:path h="1355290" w="1840788">
                  <a:moveTo>
                    <a:pt x="98797" y="0"/>
                  </a:moveTo>
                  <a:lnTo>
                    <a:pt x="1741991" y="0"/>
                  </a:lnTo>
                  <a:cubicBezTo>
                    <a:pt x="1796555" y="0"/>
                    <a:pt x="1840788" y="44233"/>
                    <a:pt x="1840788" y="98797"/>
                  </a:cubicBezTo>
                  <a:lnTo>
                    <a:pt x="1840788" y="1256492"/>
                  </a:lnTo>
                  <a:cubicBezTo>
                    <a:pt x="1840788" y="1311057"/>
                    <a:pt x="1796555" y="1355290"/>
                    <a:pt x="1741991" y="1355290"/>
                  </a:cubicBezTo>
                  <a:lnTo>
                    <a:pt x="98797" y="1355290"/>
                  </a:lnTo>
                  <a:cubicBezTo>
                    <a:pt x="44233" y="1355290"/>
                    <a:pt x="0" y="1311057"/>
                    <a:pt x="0" y="1256492"/>
                  </a:cubicBezTo>
                  <a:lnTo>
                    <a:pt x="0" y="98797"/>
                  </a:lnTo>
                  <a:cubicBezTo>
                    <a:pt x="0" y="44233"/>
                    <a:pt x="44233" y="0"/>
                    <a:pt x="98797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1840788" cy="14029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666661" y="505734"/>
            <a:ext cx="5650392" cy="4156581"/>
            <a:chOff x="0" y="0"/>
            <a:chExt cx="7533855" cy="5542109"/>
          </a:xfrm>
        </p:grpSpPr>
        <p:pic>
          <p:nvPicPr>
            <p:cNvPr name="Picture 28" id="28"/>
            <p:cNvPicPr>
              <a:picLocks noChangeAspect="true"/>
            </p:cNvPicPr>
            <p:nvPr/>
          </p:nvPicPr>
          <p:blipFill>
            <a:blip r:embed="rId3"/>
            <a:srcRect l="11785" t="0" r="11785" b="0"/>
            <a:stretch>
              <a:fillRect/>
            </a:stretch>
          </p:blipFill>
          <p:spPr>
            <a:xfrm flipH="false" flipV="false">
              <a:off x="0" y="0"/>
              <a:ext cx="7533855" cy="5542109"/>
            </a:xfrm>
            <a:prstGeom prst="rect">
              <a:avLst/>
            </a:prstGeom>
          </p:spPr>
        </p:pic>
      </p:grpSp>
      <p:grpSp>
        <p:nvGrpSpPr>
          <p:cNvPr name="Group 29" id="29"/>
          <p:cNvGrpSpPr/>
          <p:nvPr/>
        </p:nvGrpSpPr>
        <p:grpSpPr>
          <a:xfrm rot="0">
            <a:off x="11666661" y="5121274"/>
            <a:ext cx="5650392" cy="4156581"/>
            <a:chOff x="0" y="0"/>
            <a:chExt cx="7533855" cy="5542109"/>
          </a:xfrm>
        </p:grpSpPr>
        <p:pic>
          <p:nvPicPr>
            <p:cNvPr name="Picture 30" id="30"/>
            <p:cNvPicPr>
              <a:picLocks noChangeAspect="true"/>
            </p:cNvPicPr>
            <p:nvPr/>
          </p:nvPicPr>
          <p:blipFill>
            <a:blip r:embed="rId4"/>
            <a:srcRect l="11785" t="0" r="11785" b="0"/>
            <a:stretch>
              <a:fillRect/>
            </a:stretch>
          </p:blipFill>
          <p:spPr>
            <a:xfrm flipH="false" flipV="false">
              <a:off x="0" y="0"/>
              <a:ext cx="7533855" cy="5542109"/>
            </a:xfrm>
            <a:prstGeom prst="rect">
              <a:avLst/>
            </a:prstGeom>
          </p:spPr>
        </p:pic>
      </p:grpSp>
      <p:grpSp>
        <p:nvGrpSpPr>
          <p:cNvPr name="Group 31" id="31"/>
          <p:cNvGrpSpPr/>
          <p:nvPr/>
        </p:nvGrpSpPr>
        <p:grpSpPr>
          <a:xfrm rot="-5400000">
            <a:off x="10732881" y="1311240"/>
            <a:ext cx="392610" cy="437062"/>
            <a:chOff x="0" y="0"/>
            <a:chExt cx="523480" cy="582749"/>
          </a:xfrm>
        </p:grpSpPr>
        <p:grpSp>
          <p:nvGrpSpPr>
            <p:cNvPr name="Group 32" id="32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5" id="35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8" id="38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41" id="41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44" id="44"/>
          <p:cNvGrpSpPr/>
          <p:nvPr/>
        </p:nvGrpSpPr>
        <p:grpSpPr>
          <a:xfrm rot="-10800000">
            <a:off x="1261806" y="8663467"/>
            <a:ext cx="392610" cy="437062"/>
            <a:chOff x="0" y="0"/>
            <a:chExt cx="523480" cy="582749"/>
          </a:xfrm>
        </p:grpSpPr>
        <p:grpSp>
          <p:nvGrpSpPr>
            <p:cNvPr name="Group 45" id="45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50" id="5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54" id="54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379804" y="1028700"/>
            <a:ext cx="13664538" cy="8229600"/>
            <a:chOff x="0" y="0"/>
            <a:chExt cx="359889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598891" cy="2167467"/>
            </a:xfrm>
            <a:custGeom>
              <a:avLst/>
              <a:gdLst/>
              <a:ahLst/>
              <a:cxnLst/>
              <a:rect r="r" b="b" t="t" l="l"/>
              <a:pathLst>
                <a:path h="2167467" w="3598891">
                  <a:moveTo>
                    <a:pt x="45326" y="0"/>
                  </a:moveTo>
                  <a:lnTo>
                    <a:pt x="3553565" y="0"/>
                  </a:lnTo>
                  <a:cubicBezTo>
                    <a:pt x="3578598" y="0"/>
                    <a:pt x="3598891" y="20293"/>
                    <a:pt x="3598891" y="45326"/>
                  </a:cubicBezTo>
                  <a:lnTo>
                    <a:pt x="3598891" y="2122141"/>
                  </a:lnTo>
                  <a:cubicBezTo>
                    <a:pt x="3598891" y="2147174"/>
                    <a:pt x="3578598" y="2167467"/>
                    <a:pt x="3553565" y="2167467"/>
                  </a:cubicBezTo>
                  <a:lnTo>
                    <a:pt x="45326" y="2167467"/>
                  </a:lnTo>
                  <a:cubicBezTo>
                    <a:pt x="20293" y="2167467"/>
                    <a:pt x="0" y="2147174"/>
                    <a:pt x="0" y="2122141"/>
                  </a:cubicBezTo>
                  <a:lnTo>
                    <a:pt x="0" y="45326"/>
                  </a:lnTo>
                  <a:cubicBezTo>
                    <a:pt x="0" y="20293"/>
                    <a:pt x="20293" y="0"/>
                    <a:pt x="45326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598891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938453" y="1028700"/>
            <a:ext cx="6989242" cy="8229600"/>
            <a:chOff x="0" y="0"/>
            <a:chExt cx="1840788" cy="21674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0788" cy="2167467"/>
            </a:xfrm>
            <a:custGeom>
              <a:avLst/>
              <a:gdLst/>
              <a:ahLst/>
              <a:cxnLst/>
              <a:rect r="r" b="b" t="t" l="l"/>
              <a:pathLst>
                <a:path h="2167467" w="1840788">
                  <a:moveTo>
                    <a:pt x="88615" y="0"/>
                  </a:moveTo>
                  <a:lnTo>
                    <a:pt x="1752173" y="0"/>
                  </a:lnTo>
                  <a:cubicBezTo>
                    <a:pt x="1801114" y="0"/>
                    <a:pt x="1840788" y="39674"/>
                    <a:pt x="1840788" y="88615"/>
                  </a:cubicBezTo>
                  <a:lnTo>
                    <a:pt x="1840788" y="2078851"/>
                  </a:lnTo>
                  <a:cubicBezTo>
                    <a:pt x="1840788" y="2127792"/>
                    <a:pt x="1801114" y="2167467"/>
                    <a:pt x="1752173" y="2167467"/>
                  </a:cubicBezTo>
                  <a:lnTo>
                    <a:pt x="88615" y="2167467"/>
                  </a:lnTo>
                  <a:cubicBezTo>
                    <a:pt x="39674" y="2167467"/>
                    <a:pt x="0" y="2127792"/>
                    <a:pt x="0" y="2078851"/>
                  </a:cubicBezTo>
                  <a:lnTo>
                    <a:pt x="0" y="88615"/>
                  </a:lnTo>
                  <a:cubicBezTo>
                    <a:pt x="0" y="39674"/>
                    <a:pt x="39674" y="0"/>
                    <a:pt x="88615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840788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776300" y="1437866"/>
            <a:ext cx="6299621" cy="7411267"/>
            <a:chOff x="0" y="0"/>
            <a:chExt cx="8399495" cy="9881689"/>
          </a:xfrm>
        </p:grpSpPr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2"/>
            <a:srcRect l="23012" t="0" r="23012" b="0"/>
            <a:stretch>
              <a:fillRect/>
            </a:stretch>
          </p:blipFill>
          <p:spPr>
            <a:xfrm flipH="false" flipV="false">
              <a:off x="0" y="0"/>
              <a:ext cx="8399495" cy="9881689"/>
            </a:xfrm>
            <a:prstGeom prst="rect">
              <a:avLst/>
            </a:prstGeom>
          </p:spPr>
        </p:pic>
      </p:grpSp>
      <p:sp>
        <p:nvSpPr>
          <p:cNvPr name="TextBox 10" id="10"/>
          <p:cNvSpPr txBox="true"/>
          <p:nvPr/>
        </p:nvSpPr>
        <p:spPr>
          <a:xfrm rot="0">
            <a:off x="6333349" y="2010336"/>
            <a:ext cx="11293896" cy="89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</a:pPr>
            <a:r>
              <a:rPr lang="en-US" sz="5850" spc="-181">
                <a:solidFill>
                  <a:srgbClr val="0000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CURSOS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333349" y="2943235"/>
            <a:ext cx="11448346" cy="804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999" spc="-149" b="true">
                <a:solidFill>
                  <a:srgbClr val="0000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 plataforma é integrada com guias e cursos, cada um com suas proposta e  diversos exercícios para aplicar a teórica apresentada: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56665" y="4150952"/>
            <a:ext cx="6827162" cy="4470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55"/>
              </a:lnSpc>
            </a:pPr>
            <a:r>
              <a:rPr lang="en-US" b="true" sz="2375" spc="-118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Peças</a:t>
            </a:r>
          </a:p>
          <a:p>
            <a:pPr algn="just">
              <a:lnSpc>
                <a:spcPts val="2755"/>
              </a:lnSpc>
            </a:pPr>
            <a:r>
              <a:rPr lang="en-US" sz="2375" spc="-11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Fundamentos e características das peças.</a:t>
            </a:r>
          </a:p>
          <a:p>
            <a:pPr algn="just">
              <a:lnSpc>
                <a:spcPts val="2755"/>
              </a:lnSpc>
            </a:pPr>
          </a:p>
          <a:p>
            <a:pPr algn="just">
              <a:lnSpc>
                <a:spcPts val="2755"/>
              </a:lnSpc>
            </a:pPr>
            <a:r>
              <a:rPr lang="en-US" b="true" sz="2375" spc="-118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Xeque-mate</a:t>
            </a:r>
          </a:p>
          <a:p>
            <a:pPr algn="just">
              <a:lnSpc>
                <a:spcPts val="2755"/>
              </a:lnSpc>
            </a:pPr>
            <a:r>
              <a:rPr lang="en-US" sz="2375" spc="-11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Conceitos relacionados à finalização das partidas.</a:t>
            </a:r>
          </a:p>
          <a:p>
            <a:pPr algn="just">
              <a:lnSpc>
                <a:spcPts val="2755"/>
              </a:lnSpc>
            </a:pPr>
          </a:p>
          <a:p>
            <a:pPr algn="just">
              <a:lnSpc>
                <a:spcPts val="2755"/>
              </a:lnSpc>
            </a:pPr>
            <a:r>
              <a:rPr lang="en-US" b="true" sz="2375" spc="-118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Aberturas</a:t>
            </a:r>
          </a:p>
          <a:p>
            <a:pPr algn="just">
              <a:lnSpc>
                <a:spcPts val="2755"/>
              </a:lnSpc>
            </a:pPr>
            <a:r>
              <a:rPr lang="en-US" sz="2375" spc="-11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Conceitos e princípios das primeiras jogadas.</a:t>
            </a:r>
          </a:p>
          <a:p>
            <a:pPr algn="just">
              <a:lnSpc>
                <a:spcPts val="2755"/>
              </a:lnSpc>
            </a:pPr>
          </a:p>
          <a:p>
            <a:pPr algn="just">
              <a:lnSpc>
                <a:spcPts val="2755"/>
              </a:lnSpc>
            </a:pPr>
            <a:r>
              <a:rPr lang="en-US" b="true" sz="2375" spc="-118">
                <a:solidFill>
                  <a:srgbClr val="000000"/>
                </a:solidFill>
                <a:latin typeface="Inter Bold"/>
                <a:ea typeface="Inter Bold"/>
                <a:cs typeface="Inter Bold"/>
                <a:sym typeface="Inter Bold"/>
              </a:rPr>
              <a:t>Táticas</a:t>
            </a:r>
          </a:p>
          <a:p>
            <a:pPr algn="just">
              <a:lnSpc>
                <a:spcPts val="2755"/>
              </a:lnSpc>
            </a:pPr>
            <a:r>
              <a:rPr lang="en-US" sz="2375" spc="-11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Padrões e estratégias para obter vantagens durante a partida.</a:t>
            </a:r>
          </a:p>
          <a:p>
            <a:pPr algn="just">
              <a:lnSpc>
                <a:spcPts val="2755"/>
              </a:lnSpc>
            </a:pPr>
          </a:p>
        </p:txBody>
      </p:sp>
      <p:grpSp>
        <p:nvGrpSpPr>
          <p:cNvPr name="Group 13" id="13"/>
          <p:cNvGrpSpPr/>
          <p:nvPr/>
        </p:nvGrpSpPr>
        <p:grpSpPr>
          <a:xfrm rot="0">
            <a:off x="6333349" y="4150952"/>
            <a:ext cx="392610" cy="437062"/>
            <a:chOff x="0" y="0"/>
            <a:chExt cx="523480" cy="582749"/>
          </a:xfrm>
        </p:grpSpPr>
        <p:grpSp>
          <p:nvGrpSpPr>
            <p:cNvPr name="Group 14" id="14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26" id="26"/>
          <p:cNvGrpSpPr/>
          <p:nvPr/>
        </p:nvGrpSpPr>
        <p:grpSpPr>
          <a:xfrm rot="0">
            <a:off x="16933451" y="4150952"/>
            <a:ext cx="392610" cy="437062"/>
            <a:chOff x="0" y="0"/>
            <a:chExt cx="523480" cy="582749"/>
          </a:xfrm>
        </p:grpSpPr>
        <p:grpSp>
          <p:nvGrpSpPr>
            <p:cNvPr name="Group 27" id="27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73131" y="1028700"/>
            <a:ext cx="9502612" cy="8229600"/>
            <a:chOff x="0" y="0"/>
            <a:chExt cx="250274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502746" cy="2167467"/>
            </a:xfrm>
            <a:custGeom>
              <a:avLst/>
              <a:gdLst/>
              <a:ahLst/>
              <a:cxnLst/>
              <a:rect r="r" b="b" t="t" l="l"/>
              <a:pathLst>
                <a:path h="2167467" w="2502746">
                  <a:moveTo>
                    <a:pt x="65177" y="0"/>
                  </a:moveTo>
                  <a:lnTo>
                    <a:pt x="2437568" y="0"/>
                  </a:lnTo>
                  <a:cubicBezTo>
                    <a:pt x="2454855" y="0"/>
                    <a:pt x="2471433" y="6867"/>
                    <a:pt x="2483656" y="19090"/>
                  </a:cubicBezTo>
                  <a:cubicBezTo>
                    <a:pt x="2495879" y="31313"/>
                    <a:pt x="2502746" y="47891"/>
                    <a:pt x="2502746" y="65177"/>
                  </a:cubicBezTo>
                  <a:lnTo>
                    <a:pt x="2502746" y="2102290"/>
                  </a:lnTo>
                  <a:cubicBezTo>
                    <a:pt x="2502746" y="2138286"/>
                    <a:pt x="2473565" y="2167467"/>
                    <a:pt x="2437568" y="2167467"/>
                  </a:cubicBezTo>
                  <a:lnTo>
                    <a:pt x="65177" y="2167467"/>
                  </a:lnTo>
                  <a:cubicBezTo>
                    <a:pt x="29181" y="2167467"/>
                    <a:pt x="0" y="2138286"/>
                    <a:pt x="0" y="2102290"/>
                  </a:cubicBezTo>
                  <a:lnTo>
                    <a:pt x="0" y="65177"/>
                  </a:lnTo>
                  <a:cubicBezTo>
                    <a:pt x="0" y="29181"/>
                    <a:pt x="29181" y="0"/>
                    <a:pt x="65177" y="0"/>
                  </a:cubicBezTo>
                  <a:close/>
                </a:path>
              </a:pathLst>
            </a:custGeom>
            <a:ln w="19050" cap="rnd">
              <a:solidFill>
                <a:srgbClr val="FFDE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2502746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028700"/>
            <a:ext cx="8366339" cy="8229600"/>
            <a:chOff x="0" y="0"/>
            <a:chExt cx="2203480" cy="216746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3480" cy="2167467"/>
            </a:xfrm>
            <a:custGeom>
              <a:avLst/>
              <a:gdLst/>
              <a:ahLst/>
              <a:cxnLst/>
              <a:rect r="r" b="b" t="t" l="l"/>
              <a:pathLst>
                <a:path h="2167467" w="2203480">
                  <a:moveTo>
                    <a:pt x="74029" y="0"/>
                  </a:moveTo>
                  <a:lnTo>
                    <a:pt x="2129451" y="0"/>
                  </a:lnTo>
                  <a:cubicBezTo>
                    <a:pt x="2149085" y="0"/>
                    <a:pt x="2167914" y="7799"/>
                    <a:pt x="2181798" y="21683"/>
                  </a:cubicBezTo>
                  <a:cubicBezTo>
                    <a:pt x="2195681" y="35566"/>
                    <a:pt x="2203480" y="54395"/>
                    <a:pt x="2203480" y="74029"/>
                  </a:cubicBezTo>
                  <a:lnTo>
                    <a:pt x="2203480" y="2093438"/>
                  </a:lnTo>
                  <a:cubicBezTo>
                    <a:pt x="2203480" y="2113071"/>
                    <a:pt x="2195681" y="2131901"/>
                    <a:pt x="2181798" y="2145784"/>
                  </a:cubicBezTo>
                  <a:cubicBezTo>
                    <a:pt x="2167914" y="2159667"/>
                    <a:pt x="2149085" y="2167467"/>
                    <a:pt x="2129451" y="2167467"/>
                  </a:cubicBezTo>
                  <a:lnTo>
                    <a:pt x="74029" y="2167467"/>
                  </a:lnTo>
                  <a:cubicBezTo>
                    <a:pt x="54395" y="2167467"/>
                    <a:pt x="35566" y="2159667"/>
                    <a:pt x="21683" y="2145784"/>
                  </a:cubicBezTo>
                  <a:cubicBezTo>
                    <a:pt x="7799" y="2131901"/>
                    <a:pt x="0" y="2113071"/>
                    <a:pt x="0" y="2093438"/>
                  </a:cubicBezTo>
                  <a:lnTo>
                    <a:pt x="0" y="74029"/>
                  </a:lnTo>
                  <a:cubicBezTo>
                    <a:pt x="0" y="54395"/>
                    <a:pt x="7799" y="35566"/>
                    <a:pt x="21683" y="21683"/>
                  </a:cubicBezTo>
                  <a:cubicBezTo>
                    <a:pt x="35566" y="7799"/>
                    <a:pt x="54395" y="0"/>
                    <a:pt x="74029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203480" cy="2215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5400000">
            <a:off x="16397300" y="3753704"/>
            <a:ext cx="392610" cy="437062"/>
            <a:chOff x="0" y="0"/>
            <a:chExt cx="523480" cy="582749"/>
          </a:xfrm>
        </p:grpSpPr>
        <p:grpSp>
          <p:nvGrpSpPr>
            <p:cNvPr name="Group 9" id="9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sp>
        <p:nvSpPr>
          <p:cNvPr name="Freeform 21" id="21"/>
          <p:cNvSpPr/>
          <p:nvPr/>
        </p:nvSpPr>
        <p:spPr>
          <a:xfrm flipH="false" flipV="false" rot="-842070">
            <a:off x="1978757" y="1744677"/>
            <a:ext cx="2304134" cy="3245260"/>
          </a:xfrm>
          <a:custGeom>
            <a:avLst/>
            <a:gdLst/>
            <a:ahLst/>
            <a:cxnLst/>
            <a:rect r="r" b="b" t="t" l="l"/>
            <a:pathLst>
              <a:path h="3245260" w="2304134">
                <a:moveTo>
                  <a:pt x="0" y="0"/>
                </a:moveTo>
                <a:lnTo>
                  <a:pt x="2304134" y="0"/>
                </a:lnTo>
                <a:lnTo>
                  <a:pt x="2304134" y="3245260"/>
                </a:lnTo>
                <a:lnTo>
                  <a:pt x="0" y="32452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726673">
            <a:off x="6085939" y="3889442"/>
            <a:ext cx="2303397" cy="2662887"/>
          </a:xfrm>
          <a:custGeom>
            <a:avLst/>
            <a:gdLst/>
            <a:ahLst/>
            <a:cxnLst/>
            <a:rect r="r" b="b" t="t" l="l"/>
            <a:pathLst>
              <a:path h="2662887" w="2303397">
                <a:moveTo>
                  <a:pt x="0" y="0"/>
                </a:moveTo>
                <a:lnTo>
                  <a:pt x="2303397" y="0"/>
                </a:lnTo>
                <a:lnTo>
                  <a:pt x="2303397" y="2662886"/>
                </a:lnTo>
                <a:lnTo>
                  <a:pt x="0" y="26628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-1518151">
            <a:off x="2779303" y="6373379"/>
            <a:ext cx="2335227" cy="2101705"/>
          </a:xfrm>
          <a:custGeom>
            <a:avLst/>
            <a:gdLst/>
            <a:ahLst/>
            <a:cxnLst/>
            <a:rect r="r" b="b" t="t" l="l"/>
            <a:pathLst>
              <a:path h="2101705" w="2335227">
                <a:moveTo>
                  <a:pt x="0" y="0"/>
                </a:moveTo>
                <a:lnTo>
                  <a:pt x="2335227" y="0"/>
                </a:lnTo>
                <a:lnTo>
                  <a:pt x="2335227" y="2101704"/>
                </a:lnTo>
                <a:lnTo>
                  <a:pt x="0" y="21017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9833275" y="1573676"/>
            <a:ext cx="6760330" cy="160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</a:pPr>
            <a:r>
              <a:rPr lang="en-US" sz="5850" spc="-181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Desenvolvimento do projeto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33275" y="3405407"/>
            <a:ext cx="5786512" cy="5177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1"/>
              </a:lnSpc>
            </a:pPr>
            <a:r>
              <a:rPr lang="en-US" sz="2299" spc="-114" b="true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HTML5</a:t>
            </a:r>
          </a:p>
          <a:p>
            <a:pPr algn="l" marL="496567" indent="-248284" lvl="1">
              <a:lnSpc>
                <a:spcPts val="2391"/>
              </a:lnSpc>
              <a:buFont typeface="Arial"/>
              <a:buChar char="•"/>
            </a:pP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Estruturação: Construção da arquitetura e esqueleto das </a:t>
            </a: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páginas web.</a:t>
            </a:r>
          </a:p>
          <a:p>
            <a:pPr algn="l">
              <a:lnSpc>
                <a:spcPts val="2391"/>
              </a:lnSpc>
            </a:pPr>
          </a:p>
          <a:p>
            <a:pPr algn="l">
              <a:lnSpc>
                <a:spcPts val="2391"/>
              </a:lnSpc>
            </a:pPr>
            <a:r>
              <a:rPr lang="en-US" sz="2299" spc="-114" b="true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CSS3</a:t>
            </a:r>
          </a:p>
          <a:p>
            <a:pPr algn="l" marL="496567" indent="-248284" lvl="1">
              <a:lnSpc>
                <a:spcPts val="2391"/>
              </a:lnSpc>
              <a:buFont typeface="Arial"/>
              <a:buChar char="•"/>
            </a:pP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Design e Layout: Estilização visual e criação da identidade do projeto.</a:t>
            </a:r>
          </a:p>
          <a:p>
            <a:pPr algn="l" marL="496567" indent="-248284" lvl="1">
              <a:lnSpc>
                <a:spcPts val="2391"/>
              </a:lnSpc>
              <a:buFont typeface="Arial"/>
              <a:buChar char="•"/>
            </a:pP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Responsividade: Adaptação da interface para computadores e celulares.</a:t>
            </a:r>
          </a:p>
          <a:p>
            <a:pPr algn="l">
              <a:lnSpc>
                <a:spcPts val="2391"/>
              </a:lnSpc>
            </a:pPr>
          </a:p>
          <a:p>
            <a:pPr algn="l">
              <a:lnSpc>
                <a:spcPts val="2391"/>
              </a:lnSpc>
            </a:pPr>
            <a:r>
              <a:rPr lang="en-US" sz="2299" spc="-114" b="true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JavaScript</a:t>
            </a:r>
          </a:p>
          <a:p>
            <a:pPr algn="l" marL="496567" indent="-248284" lvl="1">
              <a:lnSpc>
                <a:spcPts val="2391"/>
              </a:lnSpc>
              <a:buFont typeface="Arial"/>
              <a:buChar char="•"/>
            </a:pP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Dinamismo: Implementação da lógica do sistema e interações do usuário.</a:t>
            </a:r>
          </a:p>
          <a:p>
            <a:pPr algn="l" marL="496567" indent="-248284" lvl="1">
              <a:lnSpc>
                <a:spcPts val="2391"/>
              </a:lnSpc>
              <a:buFont typeface="Arial"/>
              <a:buChar char="•"/>
            </a:pPr>
            <a:r>
              <a:rPr lang="en-US" b="true" sz="2299" spc="-114">
                <a:solidFill>
                  <a:srgbClr val="FFDE00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Interatividade: Manipulação de elementos e funcionamento dos exercícios.</a:t>
            </a:r>
          </a:p>
          <a:p>
            <a:pPr algn="l">
              <a:lnSpc>
                <a:spcPts val="2391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202435"/>
            <a:ext cx="4421820" cy="10460735"/>
            <a:chOff x="0" y="0"/>
            <a:chExt cx="1164595" cy="275509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4595" cy="2755091"/>
            </a:xfrm>
            <a:custGeom>
              <a:avLst/>
              <a:gdLst/>
              <a:ahLst/>
              <a:cxnLst/>
              <a:rect r="r" b="b" t="t" l="l"/>
              <a:pathLst>
                <a:path h="2755091" w="1164595">
                  <a:moveTo>
                    <a:pt x="140068" y="0"/>
                  </a:moveTo>
                  <a:lnTo>
                    <a:pt x="1024527" y="0"/>
                  </a:lnTo>
                  <a:cubicBezTo>
                    <a:pt x="1061675" y="0"/>
                    <a:pt x="1097302" y="14757"/>
                    <a:pt x="1123570" y="41025"/>
                  </a:cubicBezTo>
                  <a:cubicBezTo>
                    <a:pt x="1149837" y="67293"/>
                    <a:pt x="1164595" y="102919"/>
                    <a:pt x="1164595" y="140068"/>
                  </a:cubicBezTo>
                  <a:lnTo>
                    <a:pt x="1164595" y="2615023"/>
                  </a:lnTo>
                  <a:cubicBezTo>
                    <a:pt x="1164595" y="2652171"/>
                    <a:pt x="1149837" y="2687798"/>
                    <a:pt x="1123570" y="2714066"/>
                  </a:cubicBezTo>
                  <a:cubicBezTo>
                    <a:pt x="1097302" y="2740334"/>
                    <a:pt x="1061675" y="2755091"/>
                    <a:pt x="1024527" y="2755091"/>
                  </a:cubicBezTo>
                  <a:lnTo>
                    <a:pt x="140068" y="2755091"/>
                  </a:lnTo>
                  <a:cubicBezTo>
                    <a:pt x="62710" y="2755091"/>
                    <a:pt x="0" y="2692380"/>
                    <a:pt x="0" y="2615023"/>
                  </a:cubicBezTo>
                  <a:lnTo>
                    <a:pt x="0" y="140068"/>
                  </a:lnTo>
                  <a:cubicBezTo>
                    <a:pt x="0" y="62710"/>
                    <a:pt x="62710" y="0"/>
                    <a:pt x="140068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164595" cy="28027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082384" y="1028700"/>
            <a:ext cx="4205616" cy="10878098"/>
            <a:chOff x="0" y="0"/>
            <a:chExt cx="1107652" cy="286501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07652" cy="2865013"/>
            </a:xfrm>
            <a:custGeom>
              <a:avLst/>
              <a:gdLst/>
              <a:ahLst/>
              <a:cxnLst/>
              <a:rect r="r" b="b" t="t" l="l"/>
              <a:pathLst>
                <a:path h="2865013" w="1107652">
                  <a:moveTo>
                    <a:pt x="147268" y="0"/>
                  </a:moveTo>
                  <a:lnTo>
                    <a:pt x="960384" y="0"/>
                  </a:lnTo>
                  <a:cubicBezTo>
                    <a:pt x="1041718" y="0"/>
                    <a:pt x="1107652" y="65934"/>
                    <a:pt x="1107652" y="147268"/>
                  </a:cubicBezTo>
                  <a:lnTo>
                    <a:pt x="1107652" y="2717745"/>
                  </a:lnTo>
                  <a:cubicBezTo>
                    <a:pt x="1107652" y="2756803"/>
                    <a:pt x="1092136" y="2794261"/>
                    <a:pt x="1064518" y="2821880"/>
                  </a:cubicBezTo>
                  <a:cubicBezTo>
                    <a:pt x="1036900" y="2849498"/>
                    <a:pt x="999442" y="2865013"/>
                    <a:pt x="960384" y="2865013"/>
                  </a:cubicBezTo>
                  <a:lnTo>
                    <a:pt x="147268" y="2865013"/>
                  </a:lnTo>
                  <a:cubicBezTo>
                    <a:pt x="108210" y="2865013"/>
                    <a:pt x="70752" y="2849498"/>
                    <a:pt x="43134" y="2821880"/>
                  </a:cubicBezTo>
                  <a:cubicBezTo>
                    <a:pt x="15516" y="2794261"/>
                    <a:pt x="0" y="2756803"/>
                    <a:pt x="0" y="2717745"/>
                  </a:cubicBezTo>
                  <a:lnTo>
                    <a:pt x="0" y="147268"/>
                  </a:lnTo>
                  <a:cubicBezTo>
                    <a:pt x="0" y="108210"/>
                    <a:pt x="15516" y="70752"/>
                    <a:pt x="43134" y="43134"/>
                  </a:cubicBezTo>
                  <a:cubicBezTo>
                    <a:pt x="70752" y="15516"/>
                    <a:pt x="108210" y="0"/>
                    <a:pt x="147268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107652" cy="29126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439400" y="-408064"/>
            <a:ext cx="3543021" cy="9221975"/>
            <a:chOff x="0" y="0"/>
            <a:chExt cx="4724028" cy="12295967"/>
          </a:xfrm>
        </p:grpSpPr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2"/>
            <a:srcRect l="37225" t="0" r="37225" b="0"/>
            <a:stretch>
              <a:fillRect/>
            </a:stretch>
          </p:blipFill>
          <p:spPr>
            <a:xfrm flipH="false" flipV="false">
              <a:off x="0" y="0"/>
              <a:ext cx="4724028" cy="12295967"/>
            </a:xfrm>
            <a:prstGeom prst="rect">
              <a:avLst/>
            </a:prstGeom>
          </p:spPr>
        </p:pic>
      </p:grpSp>
      <p:grpSp>
        <p:nvGrpSpPr>
          <p:cNvPr name="Group 10" id="10"/>
          <p:cNvGrpSpPr/>
          <p:nvPr/>
        </p:nvGrpSpPr>
        <p:grpSpPr>
          <a:xfrm rot="0">
            <a:off x="14413682" y="1464456"/>
            <a:ext cx="3543021" cy="9221975"/>
            <a:chOff x="0" y="0"/>
            <a:chExt cx="4724028" cy="12295967"/>
          </a:xfrm>
        </p:grpSpPr>
        <p:pic>
          <p:nvPicPr>
            <p:cNvPr name="Picture 11" id="11"/>
            <p:cNvPicPr>
              <a:picLocks noChangeAspect="true"/>
            </p:cNvPicPr>
            <p:nvPr/>
          </p:nvPicPr>
          <p:blipFill>
            <a:blip r:embed="rId3"/>
            <a:srcRect l="24387" t="0" r="24387" b="0"/>
            <a:stretch>
              <a:fillRect/>
            </a:stretch>
          </p:blipFill>
          <p:spPr>
            <a:xfrm flipH="false" flipV="false">
              <a:off x="0" y="0"/>
              <a:ext cx="4724028" cy="12295967"/>
            </a:xfrm>
            <a:prstGeom prst="rect">
              <a:avLst/>
            </a:prstGeom>
          </p:spPr>
        </p:pic>
      </p:grpSp>
      <p:grpSp>
        <p:nvGrpSpPr>
          <p:cNvPr name="Group 12" id="12"/>
          <p:cNvGrpSpPr/>
          <p:nvPr/>
        </p:nvGrpSpPr>
        <p:grpSpPr>
          <a:xfrm rot="0">
            <a:off x="13031126" y="810169"/>
            <a:ext cx="392610" cy="437062"/>
            <a:chOff x="0" y="0"/>
            <a:chExt cx="523480" cy="582749"/>
          </a:xfrm>
        </p:grpSpPr>
        <p:grpSp>
          <p:nvGrpSpPr>
            <p:cNvPr name="Group 13" id="13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25" id="25"/>
          <p:cNvGrpSpPr/>
          <p:nvPr/>
        </p:nvGrpSpPr>
        <p:grpSpPr>
          <a:xfrm rot="0">
            <a:off x="4864264" y="9039769"/>
            <a:ext cx="392610" cy="437062"/>
            <a:chOff x="0" y="0"/>
            <a:chExt cx="523480" cy="582749"/>
          </a:xfrm>
        </p:grpSpPr>
        <p:grpSp>
          <p:nvGrpSpPr>
            <p:cNvPr name="Group 26" id="26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5" id="35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sp>
        <p:nvSpPr>
          <p:cNvPr name="TextBox 38" id="38"/>
          <p:cNvSpPr txBox="true"/>
          <p:nvPr/>
        </p:nvSpPr>
        <p:spPr>
          <a:xfrm rot="0">
            <a:off x="5256874" y="1716551"/>
            <a:ext cx="7774252" cy="89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75"/>
              </a:lnSpc>
            </a:pPr>
            <a:r>
              <a:rPr lang="en-US" sz="5850" spc="-181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DEMONSTRAÇÃO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20996" y="4955825"/>
            <a:ext cx="6446009" cy="413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9"/>
              </a:lnSpc>
            </a:pPr>
            <a:r>
              <a:rPr lang="en-US" sz="2999" spc="-149">
                <a:solidFill>
                  <a:srgbClr val="FFDE00"/>
                </a:solidFill>
                <a:latin typeface="Inter"/>
                <a:ea typeface="Inter"/>
                <a:cs typeface="Inter"/>
                <a:sym typeface="Inter"/>
              </a:rPr>
              <a:t>LINK AQUI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760517"/>
            <a:ext cx="15313942" cy="34093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480"/>
              </a:lnSpc>
            </a:pPr>
            <a:r>
              <a:rPr lang="en-US" sz="14000" spc="-434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Obrigado pela atenção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144000" y="1315346"/>
            <a:ext cx="3051359" cy="850263"/>
            <a:chOff x="0" y="0"/>
            <a:chExt cx="803650" cy="2239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03650" cy="223938"/>
            </a:xfrm>
            <a:custGeom>
              <a:avLst/>
              <a:gdLst/>
              <a:ahLst/>
              <a:cxnLst/>
              <a:rect r="r" b="b" t="t" l="l"/>
              <a:pathLst>
                <a:path h="223938" w="803650">
                  <a:moveTo>
                    <a:pt x="111969" y="0"/>
                  </a:moveTo>
                  <a:lnTo>
                    <a:pt x="691681" y="0"/>
                  </a:lnTo>
                  <a:cubicBezTo>
                    <a:pt x="721377" y="0"/>
                    <a:pt x="749857" y="11797"/>
                    <a:pt x="770855" y="32795"/>
                  </a:cubicBezTo>
                  <a:cubicBezTo>
                    <a:pt x="791854" y="53793"/>
                    <a:pt x="803650" y="82273"/>
                    <a:pt x="803650" y="111969"/>
                  </a:cubicBezTo>
                  <a:lnTo>
                    <a:pt x="803650" y="111969"/>
                  </a:lnTo>
                  <a:cubicBezTo>
                    <a:pt x="803650" y="173807"/>
                    <a:pt x="753520" y="223938"/>
                    <a:pt x="691681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803650" cy="2715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 spc="-119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EtecVav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338234" y="1315346"/>
            <a:ext cx="1444428" cy="850263"/>
            <a:chOff x="0" y="0"/>
            <a:chExt cx="380425" cy="2239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0425" cy="223938"/>
            </a:xfrm>
            <a:custGeom>
              <a:avLst/>
              <a:gdLst/>
              <a:ahLst/>
              <a:cxnLst/>
              <a:rect r="r" b="b" t="t" l="l"/>
              <a:pathLst>
                <a:path h="223938" w="380425">
                  <a:moveTo>
                    <a:pt x="111969" y="0"/>
                  </a:moveTo>
                  <a:lnTo>
                    <a:pt x="268457" y="0"/>
                  </a:lnTo>
                  <a:cubicBezTo>
                    <a:pt x="298153" y="0"/>
                    <a:pt x="326632" y="11797"/>
                    <a:pt x="347630" y="32795"/>
                  </a:cubicBezTo>
                  <a:cubicBezTo>
                    <a:pt x="368629" y="53793"/>
                    <a:pt x="380425" y="82273"/>
                    <a:pt x="380425" y="111969"/>
                  </a:cubicBezTo>
                  <a:lnTo>
                    <a:pt x="380425" y="111969"/>
                  </a:lnTo>
                  <a:cubicBezTo>
                    <a:pt x="380425" y="141665"/>
                    <a:pt x="368629" y="170144"/>
                    <a:pt x="347630" y="191143"/>
                  </a:cubicBezTo>
                  <a:cubicBezTo>
                    <a:pt x="326632" y="212141"/>
                    <a:pt x="298153" y="223938"/>
                    <a:pt x="268457" y="223938"/>
                  </a:cubicBezTo>
                  <a:lnTo>
                    <a:pt x="111969" y="223938"/>
                  </a:lnTo>
                  <a:cubicBezTo>
                    <a:pt x="82273" y="223938"/>
                    <a:pt x="53793" y="212141"/>
                    <a:pt x="32795" y="191143"/>
                  </a:cubicBezTo>
                  <a:cubicBezTo>
                    <a:pt x="11797" y="170144"/>
                    <a:pt x="0" y="141665"/>
                    <a:pt x="0" y="111969"/>
                  </a:cubicBezTo>
                  <a:lnTo>
                    <a:pt x="0" y="111969"/>
                  </a:lnTo>
                  <a:cubicBezTo>
                    <a:pt x="0" y="82273"/>
                    <a:pt x="11797" y="53793"/>
                    <a:pt x="32795" y="32795"/>
                  </a:cubicBezTo>
                  <a:cubicBezTo>
                    <a:pt x="53793" y="11797"/>
                    <a:pt x="82273" y="0"/>
                    <a:pt x="111969" y="0"/>
                  </a:cubicBezTo>
                  <a:close/>
                </a:path>
              </a:pathLst>
            </a:custGeom>
            <a:ln w="38100" cap="rnd">
              <a:solidFill>
                <a:srgbClr val="FFDE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380425" cy="2715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 spc="-119">
                  <a:solidFill>
                    <a:srgbClr val="FFE536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2026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925537" y="1315346"/>
            <a:ext cx="2651554" cy="1009171"/>
            <a:chOff x="0" y="0"/>
            <a:chExt cx="698352" cy="2657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98352" cy="265790"/>
            </a:xfrm>
            <a:custGeom>
              <a:avLst/>
              <a:gdLst/>
              <a:ahLst/>
              <a:cxnLst/>
              <a:rect r="r" b="b" t="t" l="l"/>
              <a:pathLst>
                <a:path h="265790" w="698352">
                  <a:moveTo>
                    <a:pt x="132895" y="0"/>
                  </a:moveTo>
                  <a:lnTo>
                    <a:pt x="565457" y="0"/>
                  </a:lnTo>
                  <a:cubicBezTo>
                    <a:pt x="638853" y="0"/>
                    <a:pt x="698352" y="59499"/>
                    <a:pt x="698352" y="132895"/>
                  </a:cubicBezTo>
                  <a:lnTo>
                    <a:pt x="698352" y="132895"/>
                  </a:lnTo>
                  <a:cubicBezTo>
                    <a:pt x="698352" y="168141"/>
                    <a:pt x="684350" y="201943"/>
                    <a:pt x="659428" y="226866"/>
                  </a:cubicBezTo>
                  <a:cubicBezTo>
                    <a:pt x="634505" y="251788"/>
                    <a:pt x="600703" y="265790"/>
                    <a:pt x="565457" y="265790"/>
                  </a:cubicBezTo>
                  <a:lnTo>
                    <a:pt x="132895" y="265790"/>
                  </a:lnTo>
                  <a:cubicBezTo>
                    <a:pt x="97649" y="265790"/>
                    <a:pt x="63847" y="251788"/>
                    <a:pt x="38924" y="226866"/>
                  </a:cubicBezTo>
                  <a:cubicBezTo>
                    <a:pt x="14001" y="201943"/>
                    <a:pt x="0" y="168141"/>
                    <a:pt x="0" y="132895"/>
                  </a:cubicBezTo>
                  <a:lnTo>
                    <a:pt x="0" y="132895"/>
                  </a:lnTo>
                  <a:cubicBezTo>
                    <a:pt x="0" y="97649"/>
                    <a:pt x="14001" y="63847"/>
                    <a:pt x="38924" y="38924"/>
                  </a:cubicBezTo>
                  <a:cubicBezTo>
                    <a:pt x="63847" y="14001"/>
                    <a:pt x="97649" y="0"/>
                    <a:pt x="132895" y="0"/>
                  </a:cubicBezTo>
                  <a:close/>
                </a:path>
              </a:pathLst>
            </a:custGeom>
            <a:solidFill>
              <a:srgbClr val="FFDE00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698352" cy="3134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 spc="-119">
                  <a:solidFill>
                    <a:srgbClr val="000000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Desenv. De Sistemas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 flipV="true">
            <a:off x="-420494" y="1740477"/>
            <a:ext cx="9085555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3" id="13"/>
          <p:cNvSpPr/>
          <p:nvPr/>
        </p:nvSpPr>
        <p:spPr>
          <a:xfrm>
            <a:off x="-958428" y="8618431"/>
            <a:ext cx="21490499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4" id="14"/>
          <p:cNvSpPr/>
          <p:nvPr/>
        </p:nvSpPr>
        <p:spPr>
          <a:xfrm>
            <a:off x="16980041" y="1740477"/>
            <a:ext cx="1307959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oval" len="lg" w="lg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-1436658" y="6434450"/>
            <a:ext cx="19839463" cy="0"/>
          </a:xfrm>
          <a:prstGeom prst="line">
            <a:avLst/>
          </a:prstGeom>
          <a:ln cap="flat" w="19050">
            <a:solidFill>
              <a:srgbClr val="FFDE00"/>
            </a:solidFill>
            <a:prstDash val="solid"/>
            <a:headEnd type="oval" len="lg" w="lg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0">
            <a:off x="16588609" y="3164199"/>
            <a:ext cx="392610" cy="437062"/>
            <a:chOff x="0" y="0"/>
            <a:chExt cx="523480" cy="582749"/>
          </a:xfrm>
        </p:grpSpPr>
        <p:grpSp>
          <p:nvGrpSpPr>
            <p:cNvPr name="Group 17" id="17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grpSp>
        <p:nvGrpSpPr>
          <p:cNvPr name="Group 29" id="29"/>
          <p:cNvGrpSpPr/>
          <p:nvPr/>
        </p:nvGrpSpPr>
        <p:grpSpPr>
          <a:xfrm rot="0">
            <a:off x="1028700" y="9039769"/>
            <a:ext cx="392610" cy="437062"/>
            <a:chOff x="0" y="0"/>
            <a:chExt cx="523480" cy="582749"/>
          </a:xfrm>
        </p:grpSpPr>
        <p:grpSp>
          <p:nvGrpSpPr>
            <p:cNvPr name="Group 30" id="30"/>
            <p:cNvGrpSpPr/>
            <p:nvPr/>
          </p:nvGrpSpPr>
          <p:grpSpPr>
            <a:xfrm rot="5400000">
              <a:off x="297536" y="356805"/>
              <a:ext cx="241007" cy="210881"/>
              <a:chOff x="0" y="0"/>
              <a:chExt cx="812800" cy="7112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5400000">
              <a:off x="-15063" y="356805"/>
              <a:ext cx="241007" cy="210881"/>
              <a:chOff x="0" y="0"/>
              <a:chExt cx="812800" cy="7112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5400000">
              <a:off x="-15063" y="15063"/>
              <a:ext cx="241007" cy="210881"/>
              <a:chOff x="0" y="0"/>
              <a:chExt cx="812800" cy="7112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5400000">
              <a:off x="295966" y="15063"/>
              <a:ext cx="241007" cy="210881"/>
              <a:chOff x="0" y="0"/>
              <a:chExt cx="812800" cy="7112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812800" cy="711200"/>
              </a:xfrm>
              <a:custGeom>
                <a:avLst/>
                <a:gdLst/>
                <a:ahLst/>
                <a:cxnLst/>
                <a:rect r="r" b="b" t="t" l="l"/>
                <a:pathLst>
                  <a:path h="711200" w="812800">
                    <a:moveTo>
                      <a:pt x="406400" y="0"/>
                    </a:moveTo>
                    <a:lnTo>
                      <a:pt x="812800" y="711200"/>
                    </a:lnTo>
                    <a:lnTo>
                      <a:pt x="0" y="711200"/>
                    </a:lnTo>
                    <a:lnTo>
                      <a:pt x="406400" y="0"/>
                    </a:lnTo>
                    <a:close/>
                  </a:path>
                </a:pathLst>
              </a:custGeom>
              <a:solidFill>
                <a:srgbClr val="FFDE00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27000" y="282575"/>
                <a:ext cx="558800" cy="3778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</a:p>
            </p:txBody>
          </p:sp>
        </p:grpSp>
      </p:grpSp>
      <p:sp>
        <p:nvSpPr>
          <p:cNvPr name="TextBox 42" id="42"/>
          <p:cNvSpPr txBox="true"/>
          <p:nvPr/>
        </p:nvSpPr>
        <p:spPr>
          <a:xfrm rot="0">
            <a:off x="1225005" y="7267932"/>
            <a:ext cx="15313942" cy="574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4"/>
              </a:lnSpc>
            </a:pPr>
            <a:r>
              <a:rPr lang="en-US" sz="4200" spc="-130">
                <a:solidFill>
                  <a:srgbClr val="FFDE00"/>
                </a:solidFill>
                <a:latin typeface="Heading Now 71-78"/>
                <a:ea typeface="Heading Now 71-78"/>
                <a:cs typeface="Heading Now 71-78"/>
                <a:sym typeface="Heading Now 71-78"/>
              </a:rPr>
              <a:t>Você tem alguma duvida?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DAHVxeQwIyY</dc:identifier>
  <dcterms:modified xsi:type="dcterms:W3CDTF">2011-08-01T06:04:30Z</dcterms:modified>
  <cp:revision>1</cp:revision>
  <dc:title>PrimeiroLance_apresentação_3bimestre</dc:title>
</cp:coreProperties>
</file>