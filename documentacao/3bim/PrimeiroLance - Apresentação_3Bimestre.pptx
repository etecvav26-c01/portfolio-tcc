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6" r:id="rId12"/>
  </p:sldIdLst>
  <p:sldSz cx="18288000" cy="10287000"/>
  <p:notesSz cx="6858000" cy="9144000"/>
  <p:embeddedFontLst>
    <p:embeddedFont>
      <p:font typeface="Inter Medium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Inter" panose="020B0604020202020204" charset="0"/>
      <p:regular r:id="rId18"/>
    </p:embeddedFont>
    <p:embeddedFont>
      <p:font typeface="Inter Bold" panose="020B0604020202020204" charset="0"/>
      <p:regular r:id="rId19"/>
    </p:embeddedFont>
    <p:embeddedFont>
      <p:font typeface="Heading Now 71-78" panose="020B0604020202020204" charset="0"/>
      <p:regular r:id="rId20"/>
    </p:embeddedFont>
    <p:embeddedFont>
      <p:font typeface="Inter Semi-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594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5.sv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t.scribd.com/document/577943064/Manual-Completo-de-Aberturas-de-Xadrez-Fred-Reinfeld" TargetMode="External"/><Relationship Id="rId2" Type="http://schemas.openxmlformats.org/officeDocument/2006/relationships/hyperlink" Target="https://upload.wikimedia.org/wikipedia/commons/8/8b/Manual_xadrez.pdf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geocities.ws/chess_camp/study_1.pdf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573000" y="3104854"/>
            <a:ext cx="4669767" cy="4266109"/>
          </a:xfrm>
          <a:custGeom>
            <a:avLst/>
            <a:gdLst/>
            <a:ahLst/>
            <a:cxnLst/>
            <a:rect l="l" t="t" r="r" b="b"/>
            <a:pathLst>
              <a:path w="4669767" h="4266109">
                <a:moveTo>
                  <a:pt x="0" y="0"/>
                </a:moveTo>
                <a:lnTo>
                  <a:pt x="4669767" y="0"/>
                </a:lnTo>
                <a:lnTo>
                  <a:pt x="4669767" y="4266109"/>
                </a:lnTo>
                <a:lnTo>
                  <a:pt x="0" y="426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687" t="-96588" r="-24262" b="-10100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085400" y="1218800"/>
            <a:ext cx="3051359" cy="1031089"/>
            <a:chOff x="0" y="-23813"/>
            <a:chExt cx="803650" cy="27156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03650" cy="223938"/>
            </a:xfrm>
            <a:custGeom>
              <a:avLst/>
              <a:gdLst/>
              <a:ahLst/>
              <a:cxnLst/>
              <a:rect l="l" t="t" r="r" b="b"/>
              <a:pathLst>
                <a:path w="803650" h="223938">
                  <a:moveTo>
                    <a:pt x="111969" y="0"/>
                  </a:moveTo>
                  <a:lnTo>
                    <a:pt x="691681" y="0"/>
                  </a:lnTo>
                  <a:cubicBezTo>
                    <a:pt x="721377" y="0"/>
                    <a:pt x="749857" y="11797"/>
                    <a:pt x="770855" y="32795"/>
                  </a:cubicBezTo>
                  <a:cubicBezTo>
                    <a:pt x="791854" y="53793"/>
                    <a:pt x="803650" y="82273"/>
                    <a:pt x="803650" y="111969"/>
                  </a:cubicBezTo>
                  <a:lnTo>
                    <a:pt x="803650" y="111969"/>
                  </a:lnTo>
                  <a:cubicBezTo>
                    <a:pt x="803650" y="173807"/>
                    <a:pt x="753520" y="223938"/>
                    <a:pt x="691681" y="223938"/>
                  </a:cubicBezTo>
                  <a:lnTo>
                    <a:pt x="111969" y="223938"/>
                  </a:lnTo>
                  <a:cubicBezTo>
                    <a:pt x="82273" y="223938"/>
                    <a:pt x="53793" y="212141"/>
                    <a:pt x="32795" y="191143"/>
                  </a:cubicBezTo>
                  <a:cubicBezTo>
                    <a:pt x="11797" y="170144"/>
                    <a:pt x="0" y="141665"/>
                    <a:pt x="0" y="111969"/>
                  </a:cubicBezTo>
                  <a:lnTo>
                    <a:pt x="0" y="111969"/>
                  </a:lnTo>
                  <a:cubicBezTo>
                    <a:pt x="0" y="82273"/>
                    <a:pt x="11797" y="53793"/>
                    <a:pt x="32795" y="32795"/>
                  </a:cubicBezTo>
                  <a:cubicBezTo>
                    <a:pt x="53793" y="11797"/>
                    <a:pt x="82273" y="0"/>
                    <a:pt x="111969" y="0"/>
                  </a:cubicBezTo>
                  <a:close/>
                </a:path>
              </a:pathLst>
            </a:custGeom>
            <a:solidFill>
              <a:srgbClr val="FFDE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3813"/>
              <a:ext cx="803650" cy="271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spc="-120" dirty="0" smtClea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ETECVAV</a:t>
              </a:r>
              <a:endParaRPr lang="en-US" sz="2400" spc="-12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308933" y="1202871"/>
            <a:ext cx="1473729" cy="1031089"/>
            <a:chOff x="-7717" y="-29623"/>
            <a:chExt cx="388142" cy="27156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80425" cy="223938"/>
            </a:xfrm>
            <a:custGeom>
              <a:avLst/>
              <a:gdLst/>
              <a:ahLst/>
              <a:cxnLst/>
              <a:rect l="l" t="t" r="r" b="b"/>
              <a:pathLst>
                <a:path w="380425" h="223938">
                  <a:moveTo>
                    <a:pt x="111969" y="0"/>
                  </a:moveTo>
                  <a:lnTo>
                    <a:pt x="268457" y="0"/>
                  </a:lnTo>
                  <a:cubicBezTo>
                    <a:pt x="298153" y="0"/>
                    <a:pt x="326632" y="11797"/>
                    <a:pt x="347630" y="32795"/>
                  </a:cubicBezTo>
                  <a:cubicBezTo>
                    <a:pt x="368629" y="53793"/>
                    <a:pt x="380425" y="82273"/>
                    <a:pt x="380425" y="111969"/>
                  </a:cubicBezTo>
                  <a:lnTo>
                    <a:pt x="380425" y="111969"/>
                  </a:lnTo>
                  <a:cubicBezTo>
                    <a:pt x="380425" y="141665"/>
                    <a:pt x="368629" y="170144"/>
                    <a:pt x="347630" y="191143"/>
                  </a:cubicBezTo>
                  <a:cubicBezTo>
                    <a:pt x="326632" y="212141"/>
                    <a:pt x="298153" y="223938"/>
                    <a:pt x="268457" y="223938"/>
                  </a:cubicBezTo>
                  <a:lnTo>
                    <a:pt x="111969" y="223938"/>
                  </a:lnTo>
                  <a:cubicBezTo>
                    <a:pt x="82273" y="223938"/>
                    <a:pt x="53793" y="212141"/>
                    <a:pt x="32795" y="191143"/>
                  </a:cubicBezTo>
                  <a:cubicBezTo>
                    <a:pt x="11797" y="170144"/>
                    <a:pt x="0" y="141665"/>
                    <a:pt x="0" y="111969"/>
                  </a:cubicBezTo>
                  <a:lnTo>
                    <a:pt x="0" y="111969"/>
                  </a:lnTo>
                  <a:cubicBezTo>
                    <a:pt x="0" y="82273"/>
                    <a:pt x="11797" y="53793"/>
                    <a:pt x="32795" y="32795"/>
                  </a:cubicBezTo>
                  <a:cubicBezTo>
                    <a:pt x="53793" y="11797"/>
                    <a:pt x="82273" y="0"/>
                    <a:pt x="111969" y="0"/>
                  </a:cubicBezTo>
                  <a:close/>
                </a:path>
              </a:pathLst>
            </a:custGeom>
            <a:ln w="38100" cap="rnd">
              <a:solidFill>
                <a:srgbClr val="FFDE00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-7717" y="-29623"/>
              <a:ext cx="380425" cy="271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399" b="1" spc="-119" dirty="0">
                  <a:solidFill>
                    <a:srgbClr val="FFE53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2026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925537" y="1158698"/>
            <a:ext cx="2651554" cy="1199654"/>
            <a:chOff x="0" y="-41257"/>
            <a:chExt cx="698352" cy="31595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98352" cy="268333"/>
            </a:xfrm>
            <a:custGeom>
              <a:avLst/>
              <a:gdLst/>
              <a:ahLst/>
              <a:cxnLst/>
              <a:rect l="l" t="t" r="r" b="b"/>
              <a:pathLst>
                <a:path w="698352" h="268333">
                  <a:moveTo>
                    <a:pt x="134167" y="0"/>
                  </a:moveTo>
                  <a:lnTo>
                    <a:pt x="564185" y="0"/>
                  </a:lnTo>
                  <a:cubicBezTo>
                    <a:pt x="638283" y="0"/>
                    <a:pt x="698352" y="60068"/>
                    <a:pt x="698352" y="134167"/>
                  </a:cubicBezTo>
                  <a:lnTo>
                    <a:pt x="698352" y="134167"/>
                  </a:lnTo>
                  <a:cubicBezTo>
                    <a:pt x="698352" y="169750"/>
                    <a:pt x="684216" y="203876"/>
                    <a:pt x="659055" y="229037"/>
                  </a:cubicBezTo>
                  <a:cubicBezTo>
                    <a:pt x="633894" y="254198"/>
                    <a:pt x="599768" y="268333"/>
                    <a:pt x="564185" y="268333"/>
                  </a:cubicBezTo>
                  <a:lnTo>
                    <a:pt x="134167" y="268333"/>
                  </a:lnTo>
                  <a:cubicBezTo>
                    <a:pt x="60068" y="268333"/>
                    <a:pt x="0" y="208265"/>
                    <a:pt x="0" y="134167"/>
                  </a:cubicBezTo>
                  <a:lnTo>
                    <a:pt x="0" y="134167"/>
                  </a:lnTo>
                  <a:cubicBezTo>
                    <a:pt x="0" y="60068"/>
                    <a:pt x="60068" y="0"/>
                    <a:pt x="134167" y="0"/>
                  </a:cubicBezTo>
                  <a:close/>
                </a:path>
              </a:pathLst>
            </a:custGeom>
            <a:solidFill>
              <a:srgbClr val="FFDE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1257"/>
              <a:ext cx="698352" cy="315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399" b="1" spc="-119" dirty="0" err="1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Desenv</a:t>
              </a:r>
              <a:r>
                <a:rPr lang="en-US" sz="2399" b="1" spc="-119" dirty="0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. De </a:t>
              </a:r>
              <a:r>
                <a:rPr lang="en-US" sz="2399" b="1" spc="-119" dirty="0" err="1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Sistemas</a:t>
              </a:r>
              <a:endParaRPr lang="en-US" sz="2399" b="1" spc="-119" dirty="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12" name="AutoShape 12"/>
          <p:cNvSpPr/>
          <p:nvPr/>
        </p:nvSpPr>
        <p:spPr>
          <a:xfrm flipV="1">
            <a:off x="-420494" y="1740477"/>
            <a:ext cx="9085555" cy="0"/>
          </a:xfrm>
          <a:prstGeom prst="line">
            <a:avLst/>
          </a:prstGeom>
          <a:ln w="19050" cap="flat">
            <a:solidFill>
              <a:srgbClr val="FFDE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3" name="AutoShape 13"/>
          <p:cNvSpPr/>
          <p:nvPr/>
        </p:nvSpPr>
        <p:spPr>
          <a:xfrm>
            <a:off x="16980041" y="1740477"/>
            <a:ext cx="1307959" cy="0"/>
          </a:xfrm>
          <a:prstGeom prst="line">
            <a:avLst/>
          </a:prstGeom>
          <a:ln w="19050" cap="flat">
            <a:solidFill>
              <a:srgbClr val="FFDE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1028700" y="9039769"/>
            <a:ext cx="392610" cy="437062"/>
            <a:chOff x="0" y="0"/>
            <a:chExt cx="523480" cy="582749"/>
          </a:xfrm>
        </p:grpSpPr>
        <p:grpSp>
          <p:nvGrpSpPr>
            <p:cNvPr id="15" name="Group 15"/>
            <p:cNvGrpSpPr/>
            <p:nvPr/>
          </p:nvGrpSpPr>
          <p:grpSpPr>
            <a:xfrm rot="5400000">
              <a:off x="297536" y="356805"/>
              <a:ext cx="241007" cy="210881"/>
              <a:chOff x="0" y="0"/>
              <a:chExt cx="812800" cy="7112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5400000">
              <a:off x="-15063" y="356805"/>
              <a:ext cx="241007" cy="210881"/>
              <a:chOff x="0" y="0"/>
              <a:chExt cx="812800" cy="7112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 rot="5400000">
              <a:off x="-15063" y="15063"/>
              <a:ext cx="241007" cy="210881"/>
              <a:chOff x="0" y="0"/>
              <a:chExt cx="812800" cy="7112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5400000">
              <a:off x="295966" y="15063"/>
              <a:ext cx="241007" cy="210881"/>
              <a:chOff x="0" y="0"/>
              <a:chExt cx="812800" cy="7112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  <p:sp>
        <p:nvSpPr>
          <p:cNvPr id="27" name="TextBox 27"/>
          <p:cNvSpPr txBox="1"/>
          <p:nvPr/>
        </p:nvSpPr>
        <p:spPr>
          <a:xfrm>
            <a:off x="1028700" y="3260621"/>
            <a:ext cx="11166659" cy="4172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8"/>
              </a:lnSpc>
            </a:pPr>
            <a:r>
              <a:rPr lang="en-US" sz="17084" spc="-529" dirty="0">
                <a:solidFill>
                  <a:srgbClr val="FFDE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PRIMEIRO</a:t>
            </a:r>
          </a:p>
          <a:p>
            <a:pPr algn="l">
              <a:lnSpc>
                <a:spcPts val="14008"/>
              </a:lnSpc>
            </a:pPr>
            <a:r>
              <a:rPr lang="en-US" sz="17084" spc="-529" dirty="0">
                <a:solidFill>
                  <a:srgbClr val="FFDE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LANCE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8700" y="7471177"/>
            <a:ext cx="14567639" cy="639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 spc="-184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Curso web preparatório para competição de xadrez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70842" y="8985976"/>
            <a:ext cx="14567639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spc="-139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Adrian Morales • Antonio Miguel • João Vitor Gomes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0696004" cy="8229600"/>
            <a:chOff x="0" y="0"/>
            <a:chExt cx="2817054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17054" cy="2167467"/>
            </a:xfrm>
            <a:custGeom>
              <a:avLst/>
              <a:gdLst/>
              <a:ahLst/>
              <a:cxnLst/>
              <a:rect l="l" t="t" r="r" b="b"/>
              <a:pathLst>
                <a:path w="2817054" h="2167467">
                  <a:moveTo>
                    <a:pt x="57905" y="0"/>
                  </a:moveTo>
                  <a:lnTo>
                    <a:pt x="2759149" y="0"/>
                  </a:lnTo>
                  <a:cubicBezTo>
                    <a:pt x="2774507" y="0"/>
                    <a:pt x="2789235" y="6101"/>
                    <a:pt x="2800094" y="16960"/>
                  </a:cubicBezTo>
                  <a:cubicBezTo>
                    <a:pt x="2810954" y="27819"/>
                    <a:pt x="2817054" y="42548"/>
                    <a:pt x="2817054" y="57905"/>
                  </a:cubicBezTo>
                  <a:lnTo>
                    <a:pt x="2817054" y="2109562"/>
                  </a:lnTo>
                  <a:cubicBezTo>
                    <a:pt x="2817054" y="2124919"/>
                    <a:pt x="2810954" y="2139647"/>
                    <a:pt x="2800094" y="2150507"/>
                  </a:cubicBezTo>
                  <a:cubicBezTo>
                    <a:pt x="2789235" y="2161366"/>
                    <a:pt x="2774507" y="2167467"/>
                    <a:pt x="2759149" y="2167467"/>
                  </a:cubicBezTo>
                  <a:lnTo>
                    <a:pt x="57905" y="2167467"/>
                  </a:lnTo>
                  <a:cubicBezTo>
                    <a:pt x="42548" y="2167467"/>
                    <a:pt x="27819" y="2161366"/>
                    <a:pt x="16960" y="2150507"/>
                  </a:cubicBezTo>
                  <a:cubicBezTo>
                    <a:pt x="6101" y="2139647"/>
                    <a:pt x="0" y="2124919"/>
                    <a:pt x="0" y="2109562"/>
                  </a:cubicBezTo>
                  <a:lnTo>
                    <a:pt x="0" y="57905"/>
                  </a:lnTo>
                  <a:cubicBezTo>
                    <a:pt x="0" y="42548"/>
                    <a:pt x="6101" y="27819"/>
                    <a:pt x="16960" y="16960"/>
                  </a:cubicBezTo>
                  <a:cubicBezTo>
                    <a:pt x="27819" y="6101"/>
                    <a:pt x="42548" y="0"/>
                    <a:pt x="57905" y="0"/>
                  </a:cubicBezTo>
                  <a:close/>
                </a:path>
              </a:pathLst>
            </a:custGeom>
            <a:solidFill>
              <a:srgbClr val="FFDE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817054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952237" y="1028700"/>
            <a:ext cx="5307063" cy="8229600"/>
            <a:chOff x="0" y="0"/>
            <a:chExt cx="1397745" cy="21674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97745" cy="2167467"/>
            </a:xfrm>
            <a:custGeom>
              <a:avLst/>
              <a:gdLst/>
              <a:ahLst/>
              <a:cxnLst/>
              <a:rect l="l" t="t" r="r" b="b"/>
              <a:pathLst>
                <a:path w="1397745" h="2167467">
                  <a:moveTo>
                    <a:pt x="116704" y="0"/>
                  </a:moveTo>
                  <a:lnTo>
                    <a:pt x="1281041" y="0"/>
                  </a:lnTo>
                  <a:cubicBezTo>
                    <a:pt x="1345495" y="0"/>
                    <a:pt x="1397745" y="52250"/>
                    <a:pt x="1397745" y="116704"/>
                  </a:cubicBezTo>
                  <a:lnTo>
                    <a:pt x="1397745" y="2050763"/>
                  </a:lnTo>
                  <a:cubicBezTo>
                    <a:pt x="1397745" y="2081715"/>
                    <a:pt x="1385450" y="2111399"/>
                    <a:pt x="1363563" y="2133285"/>
                  </a:cubicBezTo>
                  <a:cubicBezTo>
                    <a:pt x="1341677" y="2155171"/>
                    <a:pt x="1311993" y="2167467"/>
                    <a:pt x="1281041" y="2167467"/>
                  </a:cubicBezTo>
                  <a:lnTo>
                    <a:pt x="116704" y="2167467"/>
                  </a:lnTo>
                  <a:cubicBezTo>
                    <a:pt x="85752" y="2167467"/>
                    <a:pt x="56068" y="2155171"/>
                    <a:pt x="34182" y="2133285"/>
                  </a:cubicBezTo>
                  <a:cubicBezTo>
                    <a:pt x="12296" y="2111399"/>
                    <a:pt x="0" y="2081715"/>
                    <a:pt x="0" y="2050763"/>
                  </a:cubicBezTo>
                  <a:lnTo>
                    <a:pt x="0" y="116704"/>
                  </a:lnTo>
                  <a:cubicBezTo>
                    <a:pt x="0" y="85752"/>
                    <a:pt x="12296" y="56068"/>
                    <a:pt x="34182" y="34182"/>
                  </a:cubicBezTo>
                  <a:cubicBezTo>
                    <a:pt x="56068" y="12296"/>
                    <a:pt x="85752" y="0"/>
                    <a:pt x="116704" y="0"/>
                  </a:cubicBezTo>
                  <a:close/>
                </a:path>
              </a:pathLst>
            </a:custGeom>
            <a:solidFill>
              <a:srgbClr val="FFDE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397745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322157" y="1356790"/>
            <a:ext cx="4567223" cy="7573420"/>
            <a:chOff x="0" y="0"/>
            <a:chExt cx="6089630" cy="10097893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2"/>
            <a:srcRect l="4657" r="4657"/>
            <a:stretch>
              <a:fillRect/>
            </a:stretch>
          </p:blipFill>
          <p:spPr>
            <a:xfrm>
              <a:off x="0" y="0"/>
              <a:ext cx="6089630" cy="10097893"/>
            </a:xfrm>
            <a:prstGeom prst="rect">
              <a:avLst/>
            </a:prstGeom>
          </p:spPr>
        </p:pic>
      </p:grpSp>
      <p:sp>
        <p:nvSpPr>
          <p:cNvPr id="10" name="TextBox 10"/>
          <p:cNvSpPr txBox="1"/>
          <p:nvPr/>
        </p:nvSpPr>
        <p:spPr>
          <a:xfrm>
            <a:off x="1832577" y="1781518"/>
            <a:ext cx="9088250" cy="89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5"/>
              </a:lnSpc>
            </a:pPr>
            <a:r>
              <a:rPr lang="en-US" sz="5850" spc="-181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Nossa Motivação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10006" y="3338307"/>
            <a:ext cx="9044930" cy="4453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 spc="-13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Cenário Atual</a:t>
            </a:r>
            <a:r>
              <a:rPr lang="en-US" sz="2799" spc="-13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O xadrez exige alto nível de conhecimento teórico e treinamento prático para competições.</a:t>
            </a:r>
          </a:p>
          <a:p>
            <a:pPr algn="l">
              <a:lnSpc>
                <a:spcPts val="3919"/>
              </a:lnSpc>
            </a:pPr>
            <a:r>
              <a:rPr lang="en-US" sz="2799" b="1" spc="-13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 Complexidade</a:t>
            </a:r>
            <a:r>
              <a:rPr lang="en-US" sz="2799" spc="-13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Preparar-se para torneios demanda o domínio de diferentes conceitos e estratégias.</a:t>
            </a:r>
          </a:p>
          <a:p>
            <a:pPr algn="l">
              <a:lnSpc>
                <a:spcPts val="3919"/>
              </a:lnSpc>
            </a:pPr>
            <a:r>
              <a:rPr lang="en-US" sz="2799" b="1" spc="-13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 Dor do Usuário</a:t>
            </a:r>
            <a:r>
              <a:rPr lang="en-US" sz="2799" spc="-13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Jogadores iniciantes frequentemente se sentem perdidos ao tentar organizar seus materiais e rotinas de estudo.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 spc="-13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 Oportunidade</a:t>
            </a:r>
            <a:r>
              <a:rPr lang="en-US" sz="2799" spc="-13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A tecnologia surge como uma solução para unificar, estruturar e apoiar essa jornada de evolução.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262326" y="1791043"/>
            <a:ext cx="392610" cy="437062"/>
            <a:chOff x="0" y="0"/>
            <a:chExt cx="523480" cy="582749"/>
          </a:xfrm>
        </p:grpSpPr>
        <p:grpSp>
          <p:nvGrpSpPr>
            <p:cNvPr id="13" name="Group 13"/>
            <p:cNvGrpSpPr/>
            <p:nvPr/>
          </p:nvGrpSpPr>
          <p:grpSpPr>
            <a:xfrm rot="5400000">
              <a:off x="297536" y="356805"/>
              <a:ext cx="241007" cy="210881"/>
              <a:chOff x="0" y="0"/>
              <a:chExt cx="812800" cy="7112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5400000">
              <a:off x="-15063" y="356805"/>
              <a:ext cx="241007" cy="210881"/>
              <a:chOff x="0" y="0"/>
              <a:chExt cx="812800" cy="7112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5400000">
              <a:off x="-15063" y="15063"/>
              <a:ext cx="241007" cy="210881"/>
              <a:chOff x="0" y="0"/>
              <a:chExt cx="812800" cy="7112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5400000">
              <a:off x="295966" y="15063"/>
              <a:ext cx="241007" cy="210881"/>
              <a:chOff x="0" y="0"/>
              <a:chExt cx="812800" cy="7112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7753107" cy="8229600"/>
            <a:chOff x="0" y="0"/>
            <a:chExt cx="2041971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41971" cy="2167467"/>
            </a:xfrm>
            <a:custGeom>
              <a:avLst/>
              <a:gdLst/>
              <a:ahLst/>
              <a:cxnLst/>
              <a:rect l="l" t="t" r="r" b="b"/>
              <a:pathLst>
                <a:path w="2041971" h="2167467">
                  <a:moveTo>
                    <a:pt x="79885" y="0"/>
                  </a:moveTo>
                  <a:lnTo>
                    <a:pt x="1962086" y="0"/>
                  </a:lnTo>
                  <a:cubicBezTo>
                    <a:pt x="2006205" y="0"/>
                    <a:pt x="2041971" y="35766"/>
                    <a:pt x="2041971" y="79885"/>
                  </a:cubicBezTo>
                  <a:lnTo>
                    <a:pt x="2041971" y="2087582"/>
                  </a:lnTo>
                  <a:cubicBezTo>
                    <a:pt x="2041971" y="2131701"/>
                    <a:pt x="2006205" y="2167467"/>
                    <a:pt x="1962086" y="2167467"/>
                  </a:cubicBezTo>
                  <a:lnTo>
                    <a:pt x="79885" y="2167467"/>
                  </a:lnTo>
                  <a:cubicBezTo>
                    <a:pt x="58698" y="2167467"/>
                    <a:pt x="38379" y="2159050"/>
                    <a:pt x="23398" y="2144069"/>
                  </a:cubicBezTo>
                  <a:cubicBezTo>
                    <a:pt x="8416" y="2129088"/>
                    <a:pt x="0" y="2108769"/>
                    <a:pt x="0" y="2087582"/>
                  </a:cubicBezTo>
                  <a:lnTo>
                    <a:pt x="0" y="79885"/>
                  </a:lnTo>
                  <a:cubicBezTo>
                    <a:pt x="0" y="35766"/>
                    <a:pt x="35766" y="0"/>
                    <a:pt x="79885" y="0"/>
                  </a:cubicBezTo>
                  <a:close/>
                </a:path>
              </a:pathLst>
            </a:custGeom>
            <a:solidFill>
              <a:srgbClr val="FFDE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041971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79511" y="1356790"/>
            <a:ext cx="7051486" cy="7573420"/>
            <a:chOff x="0" y="0"/>
            <a:chExt cx="9401981" cy="10097893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/>
            <a:srcRect l="19041" r="19041"/>
            <a:stretch>
              <a:fillRect/>
            </a:stretch>
          </p:blipFill>
          <p:spPr>
            <a:xfrm>
              <a:off x="0" y="0"/>
              <a:ext cx="9401981" cy="10097893"/>
            </a:xfrm>
            <a:prstGeom prst="rect">
              <a:avLst/>
            </a:prstGeom>
          </p:spPr>
        </p:pic>
      </p:grpSp>
      <p:sp>
        <p:nvSpPr>
          <p:cNvPr id="7" name="TextBox 7"/>
          <p:cNvSpPr txBox="1"/>
          <p:nvPr/>
        </p:nvSpPr>
        <p:spPr>
          <a:xfrm>
            <a:off x="9485048" y="1912317"/>
            <a:ext cx="8342971" cy="2148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4100" spc="-127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Como utilizar uma plataforma web para auxiliar jogadores na preparação e no estudo dos fundamentos do xadrez?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40305" y="4995856"/>
            <a:ext cx="6446009" cy="3577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999" b="1" spc="-149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Organização</a:t>
            </a:r>
            <a:r>
              <a:rPr lang="en-US" sz="2999" b="1" spc="-149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do </a:t>
            </a:r>
            <a:r>
              <a:rPr lang="en-US" sz="2999" b="1" spc="-149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Conteúdo</a:t>
            </a:r>
            <a:r>
              <a:rPr lang="en-US" sz="2999" spc="-14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2999" spc="-14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Estruturação</a:t>
            </a:r>
            <a:r>
              <a:rPr lang="en-US" sz="2999" spc="-14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 smtClea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em</a:t>
            </a:r>
            <a:r>
              <a:rPr lang="en-US" sz="2999" spc="-149" dirty="0" smtClea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 smtClea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módulos</a:t>
            </a:r>
            <a:r>
              <a:rPr lang="en-US" sz="2999" spc="-149" dirty="0" smtClea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com </a:t>
            </a:r>
            <a:r>
              <a:rPr lang="en-US" sz="2999" spc="-149" dirty="0" err="1" smtClea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cada</a:t>
            </a:r>
            <a:r>
              <a:rPr lang="en-US" sz="2999" spc="-149" dirty="0" smtClea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um </a:t>
            </a:r>
            <a:r>
              <a:rPr lang="en-US" sz="2999" spc="-149" dirty="0" err="1" smtClea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tratando</a:t>
            </a:r>
            <a:r>
              <a:rPr lang="en-US" sz="2999" spc="-149" dirty="0" smtClea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de um </a:t>
            </a:r>
            <a:r>
              <a:rPr lang="en-US" sz="2999" spc="-149" dirty="0" err="1" smtClea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tema</a:t>
            </a:r>
            <a:r>
              <a:rPr lang="en-US" sz="2999" spc="-149" dirty="0" smtClea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 smtClea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específico</a:t>
            </a:r>
            <a:r>
              <a:rPr lang="en-US" sz="2999" spc="-149" dirty="0" smtClea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lang="en-US" sz="2999" spc="-149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119"/>
              </a:lnSpc>
            </a:pPr>
            <a:r>
              <a:rPr lang="en-US" sz="2999" b="1" spc="-149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Aprendizado</a:t>
            </a:r>
            <a:r>
              <a:rPr lang="en-US" sz="2999" b="1" spc="-149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999" b="1" spc="-149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Teórico</a:t>
            </a:r>
            <a:r>
              <a:rPr lang="en-US" sz="2999" spc="-14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2999" spc="-14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Acesso</a:t>
            </a:r>
            <a:r>
              <a:rPr lang="en-US" sz="2999" spc="-14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facilitado</a:t>
            </a:r>
            <a:r>
              <a:rPr lang="en-US" sz="2999" spc="-14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lang="en-US" sz="2999" spc="-14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conceitos</a:t>
            </a:r>
            <a:r>
              <a:rPr lang="en-US" sz="2999" spc="-14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essenciais</a:t>
            </a:r>
            <a:r>
              <a:rPr lang="en-US" sz="2999" spc="-14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2999" spc="-14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aberturas</a:t>
            </a:r>
            <a:r>
              <a:rPr lang="en-US" sz="2999" spc="-14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sz="2999" spc="-14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táticas</a:t>
            </a:r>
            <a:r>
              <a:rPr lang="en-US" sz="2999" spc="-14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3119"/>
              </a:lnSpc>
            </a:pPr>
            <a:r>
              <a:rPr lang="en-US" sz="2999" b="1" spc="-149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Aplicação</a:t>
            </a:r>
            <a:r>
              <a:rPr lang="en-US" sz="2999" b="1" spc="-149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999" b="1" spc="-149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Prática</a:t>
            </a:r>
            <a:r>
              <a:rPr lang="en-US" sz="2999" spc="-14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2999" spc="-14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Espaço</a:t>
            </a:r>
            <a:r>
              <a:rPr lang="en-US" sz="2999" spc="-14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para </a:t>
            </a:r>
            <a:r>
              <a:rPr lang="en-US" sz="2999" spc="-14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treinar</a:t>
            </a:r>
            <a:r>
              <a:rPr lang="en-US" sz="2999" spc="-14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os</a:t>
            </a:r>
            <a:r>
              <a:rPr lang="en-US" sz="2999" spc="-14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conhecimentos</a:t>
            </a:r>
            <a:r>
              <a:rPr lang="en-US" sz="2999" spc="-14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em</a:t>
            </a:r>
            <a:r>
              <a:rPr lang="en-US" sz="2999" spc="-14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 smtClea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posições</a:t>
            </a:r>
            <a:r>
              <a:rPr lang="en-US" sz="2999" spc="-149" dirty="0" smtClea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reais</a:t>
            </a:r>
            <a:r>
              <a:rPr lang="en-US" sz="2999" spc="-14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2999" spc="-149" dirty="0" err="1" smtClea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jogo</a:t>
            </a:r>
            <a:r>
              <a:rPr lang="en-US" sz="2999" spc="-149" dirty="0" smtClea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lang="en-US" sz="2999" spc="-149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16866690" y="919728"/>
            <a:ext cx="392610" cy="437062"/>
            <a:chOff x="0" y="0"/>
            <a:chExt cx="523480" cy="582749"/>
          </a:xfrm>
        </p:grpSpPr>
        <p:grpSp>
          <p:nvGrpSpPr>
            <p:cNvPr id="10" name="Group 10"/>
            <p:cNvGrpSpPr/>
            <p:nvPr/>
          </p:nvGrpSpPr>
          <p:grpSpPr>
            <a:xfrm rot="5400000">
              <a:off x="297536" y="356805"/>
              <a:ext cx="241007" cy="210881"/>
              <a:chOff x="0" y="0"/>
              <a:chExt cx="812800" cy="7112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5400000">
              <a:off x="-15063" y="356805"/>
              <a:ext cx="241007" cy="210881"/>
              <a:chOff x="0" y="0"/>
              <a:chExt cx="812800" cy="7112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5400000">
              <a:off x="-15063" y="15063"/>
              <a:ext cx="241007" cy="210881"/>
              <a:chOff x="0" y="0"/>
              <a:chExt cx="812800" cy="7112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5400000">
              <a:off x="295966" y="15063"/>
              <a:ext cx="241007" cy="210881"/>
              <a:chOff x="0" y="0"/>
              <a:chExt cx="812800" cy="7112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  <p:grpSp>
        <p:nvGrpSpPr>
          <p:cNvPr id="22" name="Group 22"/>
          <p:cNvGrpSpPr/>
          <p:nvPr/>
        </p:nvGrpSpPr>
        <p:grpSpPr>
          <a:xfrm>
            <a:off x="9144000" y="9039769"/>
            <a:ext cx="392610" cy="437062"/>
            <a:chOff x="0" y="0"/>
            <a:chExt cx="523480" cy="582749"/>
          </a:xfrm>
        </p:grpSpPr>
        <p:grpSp>
          <p:nvGrpSpPr>
            <p:cNvPr id="23" name="Group 23"/>
            <p:cNvGrpSpPr/>
            <p:nvPr/>
          </p:nvGrpSpPr>
          <p:grpSpPr>
            <a:xfrm rot="5400000">
              <a:off x="297536" y="356805"/>
              <a:ext cx="241007" cy="210881"/>
              <a:chOff x="0" y="0"/>
              <a:chExt cx="812800" cy="7112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 rot="5400000">
              <a:off x="-15063" y="356805"/>
              <a:ext cx="241007" cy="210881"/>
              <a:chOff x="0" y="0"/>
              <a:chExt cx="812800" cy="7112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 rot="5400000">
              <a:off x="-15063" y="15063"/>
              <a:ext cx="241007" cy="210881"/>
              <a:chOff x="0" y="0"/>
              <a:chExt cx="812800" cy="7112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 rot="5400000">
              <a:off x="295966" y="15063"/>
              <a:ext cx="241007" cy="210881"/>
              <a:chOff x="0" y="0"/>
              <a:chExt cx="812800" cy="7112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9596" y="1028700"/>
            <a:ext cx="16096832" cy="8229600"/>
            <a:chOff x="0" y="0"/>
            <a:chExt cx="4239495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39495" cy="2167467"/>
            </a:xfrm>
            <a:custGeom>
              <a:avLst/>
              <a:gdLst/>
              <a:ahLst/>
              <a:cxnLst/>
              <a:rect l="l" t="t" r="r" b="b"/>
              <a:pathLst>
                <a:path w="4239495" h="2167467">
                  <a:moveTo>
                    <a:pt x="38477" y="0"/>
                  </a:moveTo>
                  <a:lnTo>
                    <a:pt x="4201018" y="0"/>
                  </a:lnTo>
                  <a:cubicBezTo>
                    <a:pt x="4211223" y="0"/>
                    <a:pt x="4221009" y="4054"/>
                    <a:pt x="4228225" y="11270"/>
                  </a:cubicBezTo>
                  <a:cubicBezTo>
                    <a:pt x="4235441" y="18485"/>
                    <a:pt x="4239495" y="28272"/>
                    <a:pt x="4239495" y="38477"/>
                  </a:cubicBezTo>
                  <a:lnTo>
                    <a:pt x="4239495" y="2128990"/>
                  </a:lnTo>
                  <a:cubicBezTo>
                    <a:pt x="4239495" y="2150240"/>
                    <a:pt x="4222268" y="2167467"/>
                    <a:pt x="4201018" y="2167467"/>
                  </a:cubicBezTo>
                  <a:lnTo>
                    <a:pt x="38477" y="2167467"/>
                  </a:lnTo>
                  <a:cubicBezTo>
                    <a:pt x="17227" y="2167467"/>
                    <a:pt x="0" y="2150240"/>
                    <a:pt x="0" y="2128990"/>
                  </a:cubicBezTo>
                  <a:lnTo>
                    <a:pt x="0" y="38477"/>
                  </a:lnTo>
                  <a:cubicBezTo>
                    <a:pt x="0" y="17227"/>
                    <a:pt x="17227" y="0"/>
                    <a:pt x="38477" y="0"/>
                  </a:cubicBezTo>
                  <a:close/>
                </a:path>
              </a:pathLst>
            </a:custGeom>
            <a:solidFill>
              <a:srgbClr val="FFDE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39495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857003" y="1356790"/>
            <a:ext cx="7051486" cy="7573420"/>
            <a:chOff x="0" y="0"/>
            <a:chExt cx="9401981" cy="10097893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/>
            <a:srcRect l="14618" r="14618"/>
            <a:stretch>
              <a:fillRect/>
            </a:stretch>
          </p:blipFill>
          <p:spPr>
            <a:xfrm>
              <a:off x="0" y="0"/>
              <a:ext cx="9401981" cy="10097893"/>
            </a:xfrm>
            <a:prstGeom prst="rect">
              <a:avLst/>
            </a:prstGeom>
          </p:spPr>
        </p:pic>
      </p:grpSp>
      <p:grpSp>
        <p:nvGrpSpPr>
          <p:cNvPr id="7" name="Group 7"/>
          <p:cNvGrpSpPr/>
          <p:nvPr/>
        </p:nvGrpSpPr>
        <p:grpSpPr>
          <a:xfrm>
            <a:off x="1812266" y="2257125"/>
            <a:ext cx="8044738" cy="7320325"/>
            <a:chOff x="-96048" y="-28575"/>
            <a:chExt cx="10726317" cy="9760434"/>
          </a:xfrm>
        </p:grpSpPr>
        <p:sp>
          <p:nvSpPr>
            <p:cNvPr id="8" name="TextBox 8"/>
            <p:cNvSpPr txBox="1"/>
            <p:nvPr/>
          </p:nvSpPr>
          <p:spPr>
            <a:xfrm>
              <a:off x="0" y="-28575"/>
              <a:ext cx="9604946" cy="12390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820"/>
                </a:lnSpc>
              </a:pPr>
              <a:r>
                <a:rPr lang="en-US" sz="6000" spc="-186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Motivação 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-96048" y="1451598"/>
              <a:ext cx="8814070" cy="68308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2499" b="1" spc="-124" dirty="0" err="1" smtClean="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Demanda</a:t>
              </a:r>
              <a:r>
                <a:rPr lang="en-US" sz="2499" b="1" spc="-124" dirty="0" smtClean="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</a:t>
              </a:r>
              <a:r>
                <a:rPr lang="en-US" sz="2499" b="1" spc="-124" dirty="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 Mercado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: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Necessidade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real de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centralizar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e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organizar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conteúdos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dispersos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de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estudo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</a:p>
            <a:p>
              <a:pPr algn="l">
                <a:lnSpc>
                  <a:spcPct val="150000"/>
                </a:lnSpc>
              </a:pPr>
              <a:r>
                <a:rPr lang="en-US" sz="2499" b="1" spc="-124" dirty="0" err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Aplicação</a:t>
              </a:r>
              <a:r>
                <a:rPr lang="en-US" sz="2499" b="1" spc="-124" dirty="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</a:t>
              </a:r>
              <a:r>
                <a:rPr lang="en-US" sz="2499" b="1" spc="-124" dirty="0" err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Prática</a:t>
              </a:r>
              <a:r>
                <a:rPr lang="en-US" sz="2499" b="1" spc="-124" dirty="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da ETEC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: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Oportunidade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de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aplicar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os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conhecimentos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de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Desenvolvimento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de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Sistemas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adquiridos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no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curso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</a:p>
            <a:p>
              <a:pPr algn="l">
                <a:lnSpc>
                  <a:spcPct val="150000"/>
                </a:lnSpc>
              </a:pPr>
              <a:r>
                <a:rPr lang="en-US" sz="2499" b="1" spc="-124" dirty="0" err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Inclusão</a:t>
              </a:r>
              <a:r>
                <a:rPr lang="en-US" sz="2499" b="1" spc="-124" dirty="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e </a:t>
              </a:r>
              <a:r>
                <a:rPr lang="en-US" sz="2499" b="1" spc="-124" dirty="0" err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Acessibilidade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: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Criação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de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uma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ferramenta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educacional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gratuita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e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acessível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para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democratizar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o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xadrez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2499" spc="-124" dirty="0" err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competitivo</a:t>
              </a:r>
              <a:r>
                <a:rPr lang="en-US" sz="2499" spc="-124" dirty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9327409"/>
              <a:ext cx="10630269" cy="404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35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5400000">
            <a:off x="8961408" y="3904754"/>
            <a:ext cx="392610" cy="437062"/>
            <a:chOff x="0" y="0"/>
            <a:chExt cx="523480" cy="582749"/>
          </a:xfrm>
        </p:grpSpPr>
        <p:grpSp>
          <p:nvGrpSpPr>
            <p:cNvPr id="12" name="Group 12"/>
            <p:cNvGrpSpPr/>
            <p:nvPr/>
          </p:nvGrpSpPr>
          <p:grpSpPr>
            <a:xfrm rot="5400000">
              <a:off x="297536" y="356805"/>
              <a:ext cx="241007" cy="210881"/>
              <a:chOff x="0" y="0"/>
              <a:chExt cx="812800" cy="7112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5400000">
              <a:off x="-15063" y="356805"/>
              <a:ext cx="241007" cy="210881"/>
              <a:chOff x="0" y="0"/>
              <a:chExt cx="812800" cy="7112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5400000">
              <a:off x="-15063" y="15063"/>
              <a:ext cx="241007" cy="210881"/>
              <a:chOff x="0" y="0"/>
              <a:chExt cx="812800" cy="7112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 rot="5400000">
              <a:off x="295966" y="15063"/>
              <a:ext cx="241007" cy="210881"/>
              <a:chOff x="0" y="0"/>
              <a:chExt cx="812800" cy="7112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56874" y="1716551"/>
            <a:ext cx="7774252" cy="89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75"/>
              </a:lnSpc>
            </a:pPr>
            <a:r>
              <a:rPr lang="en-US" sz="5850" spc="-181">
                <a:solidFill>
                  <a:srgbClr val="FFDE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OBJETIVOS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20996" y="3323702"/>
            <a:ext cx="6446009" cy="5490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Organização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Estruturar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os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conteúdos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fundamentais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do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jogo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ctr">
              <a:lnSpc>
                <a:spcPts val="3119"/>
              </a:lnSpc>
            </a:pPr>
            <a:endParaRPr lang="en-US" sz="2999" spc="-149" dirty="0">
              <a:solidFill>
                <a:srgbClr val="FFDE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3119"/>
              </a:lnSpc>
            </a:pP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Didática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Apresentar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conceitos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maneira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clara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acessível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ctr">
              <a:lnSpc>
                <a:spcPts val="3119"/>
              </a:lnSpc>
            </a:pPr>
            <a:endParaRPr lang="en-US" sz="2999" spc="-149" dirty="0">
              <a:solidFill>
                <a:srgbClr val="FFDE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3119"/>
              </a:lnSpc>
            </a:pP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Fixação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Criar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exercícios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práticos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relacionados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aos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temas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estudados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ctr">
              <a:lnSpc>
                <a:spcPts val="3119"/>
              </a:lnSpc>
            </a:pPr>
            <a:endParaRPr lang="en-US" sz="2999" spc="-149" dirty="0">
              <a:solidFill>
                <a:srgbClr val="FFDE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3119"/>
              </a:lnSpc>
            </a:pP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Prática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Permitir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que o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usuário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aplique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e teste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os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conhecimentos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adquiridos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ctr">
              <a:lnSpc>
                <a:spcPts val="3119"/>
              </a:lnSpc>
            </a:pPr>
            <a:endParaRPr lang="en-US" sz="2999" spc="-149" dirty="0">
              <a:solidFill>
                <a:srgbClr val="FFDE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3119"/>
              </a:lnSpc>
            </a:pP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UI: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Desenvolver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uma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interface simples,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amigável</a:t>
            </a:r>
            <a:r>
              <a:rPr lang="en-US" sz="2999" spc="-149" dirty="0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sz="2999" spc="-149" dirty="0" err="1">
                <a:solidFill>
                  <a:srgbClr val="FFDE00"/>
                </a:solidFill>
                <a:latin typeface="Inter"/>
                <a:ea typeface="Inter"/>
                <a:cs typeface="Inter"/>
                <a:sym typeface="Inter"/>
              </a:rPr>
              <a:t>intuitiva</a:t>
            </a:r>
            <a:endParaRPr lang="en-US" sz="2999" spc="-149" dirty="0">
              <a:solidFill>
                <a:srgbClr val="FFDE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0" y="-1202435"/>
            <a:ext cx="4421820" cy="10460735"/>
            <a:chOff x="0" y="0"/>
            <a:chExt cx="1164595" cy="275509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64595" cy="2755091"/>
            </a:xfrm>
            <a:custGeom>
              <a:avLst/>
              <a:gdLst/>
              <a:ahLst/>
              <a:cxnLst/>
              <a:rect l="l" t="t" r="r" b="b"/>
              <a:pathLst>
                <a:path w="1164595" h="2755091">
                  <a:moveTo>
                    <a:pt x="140068" y="0"/>
                  </a:moveTo>
                  <a:lnTo>
                    <a:pt x="1024527" y="0"/>
                  </a:lnTo>
                  <a:cubicBezTo>
                    <a:pt x="1061675" y="0"/>
                    <a:pt x="1097302" y="14757"/>
                    <a:pt x="1123570" y="41025"/>
                  </a:cubicBezTo>
                  <a:cubicBezTo>
                    <a:pt x="1149837" y="67293"/>
                    <a:pt x="1164595" y="102919"/>
                    <a:pt x="1164595" y="140068"/>
                  </a:cubicBezTo>
                  <a:lnTo>
                    <a:pt x="1164595" y="2615023"/>
                  </a:lnTo>
                  <a:cubicBezTo>
                    <a:pt x="1164595" y="2652171"/>
                    <a:pt x="1149837" y="2687798"/>
                    <a:pt x="1123570" y="2714066"/>
                  </a:cubicBezTo>
                  <a:cubicBezTo>
                    <a:pt x="1097302" y="2740334"/>
                    <a:pt x="1061675" y="2755091"/>
                    <a:pt x="1024527" y="2755091"/>
                  </a:cubicBezTo>
                  <a:lnTo>
                    <a:pt x="140068" y="2755091"/>
                  </a:lnTo>
                  <a:cubicBezTo>
                    <a:pt x="62710" y="2755091"/>
                    <a:pt x="0" y="2692380"/>
                    <a:pt x="0" y="2615023"/>
                  </a:cubicBezTo>
                  <a:lnTo>
                    <a:pt x="0" y="140068"/>
                  </a:lnTo>
                  <a:cubicBezTo>
                    <a:pt x="0" y="62710"/>
                    <a:pt x="62710" y="0"/>
                    <a:pt x="140068" y="0"/>
                  </a:cubicBezTo>
                  <a:close/>
                </a:path>
              </a:pathLst>
            </a:custGeom>
            <a:solidFill>
              <a:srgbClr val="FFDE0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164595" cy="28027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082384" y="1028700"/>
            <a:ext cx="4205616" cy="10878098"/>
            <a:chOff x="0" y="0"/>
            <a:chExt cx="1107652" cy="286501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07652" cy="2865013"/>
            </a:xfrm>
            <a:custGeom>
              <a:avLst/>
              <a:gdLst/>
              <a:ahLst/>
              <a:cxnLst/>
              <a:rect l="l" t="t" r="r" b="b"/>
              <a:pathLst>
                <a:path w="1107652" h="2865013">
                  <a:moveTo>
                    <a:pt x="147268" y="0"/>
                  </a:moveTo>
                  <a:lnTo>
                    <a:pt x="960384" y="0"/>
                  </a:lnTo>
                  <a:cubicBezTo>
                    <a:pt x="1041718" y="0"/>
                    <a:pt x="1107652" y="65934"/>
                    <a:pt x="1107652" y="147268"/>
                  </a:cubicBezTo>
                  <a:lnTo>
                    <a:pt x="1107652" y="2717745"/>
                  </a:lnTo>
                  <a:cubicBezTo>
                    <a:pt x="1107652" y="2756803"/>
                    <a:pt x="1092136" y="2794261"/>
                    <a:pt x="1064518" y="2821880"/>
                  </a:cubicBezTo>
                  <a:cubicBezTo>
                    <a:pt x="1036900" y="2849498"/>
                    <a:pt x="999442" y="2865013"/>
                    <a:pt x="960384" y="2865013"/>
                  </a:cubicBezTo>
                  <a:lnTo>
                    <a:pt x="147268" y="2865013"/>
                  </a:lnTo>
                  <a:cubicBezTo>
                    <a:pt x="108210" y="2865013"/>
                    <a:pt x="70752" y="2849498"/>
                    <a:pt x="43134" y="2821880"/>
                  </a:cubicBezTo>
                  <a:cubicBezTo>
                    <a:pt x="15516" y="2794261"/>
                    <a:pt x="0" y="2756803"/>
                    <a:pt x="0" y="2717745"/>
                  </a:cubicBezTo>
                  <a:lnTo>
                    <a:pt x="0" y="147268"/>
                  </a:lnTo>
                  <a:cubicBezTo>
                    <a:pt x="0" y="108210"/>
                    <a:pt x="15516" y="70752"/>
                    <a:pt x="43134" y="43134"/>
                  </a:cubicBezTo>
                  <a:cubicBezTo>
                    <a:pt x="70752" y="15516"/>
                    <a:pt x="108210" y="0"/>
                    <a:pt x="147268" y="0"/>
                  </a:cubicBezTo>
                  <a:close/>
                </a:path>
              </a:pathLst>
            </a:custGeom>
            <a:solidFill>
              <a:srgbClr val="FFDE0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107652" cy="29126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39400" y="-408064"/>
            <a:ext cx="3543021" cy="9221975"/>
            <a:chOff x="0" y="0"/>
            <a:chExt cx="4724028" cy="12295967"/>
          </a:xfrm>
        </p:grpSpPr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2"/>
            <a:srcRect l="36937" r="36937"/>
            <a:stretch>
              <a:fillRect/>
            </a:stretch>
          </p:blipFill>
          <p:spPr>
            <a:xfrm>
              <a:off x="0" y="0"/>
              <a:ext cx="4724028" cy="12295967"/>
            </a:xfrm>
            <a:prstGeom prst="rect">
              <a:avLst/>
            </a:prstGeom>
          </p:spPr>
        </p:pic>
      </p:grpSp>
      <p:grpSp>
        <p:nvGrpSpPr>
          <p:cNvPr id="12" name="Group 12"/>
          <p:cNvGrpSpPr/>
          <p:nvPr/>
        </p:nvGrpSpPr>
        <p:grpSpPr>
          <a:xfrm>
            <a:off x="14413682" y="1464456"/>
            <a:ext cx="3543021" cy="9221975"/>
            <a:chOff x="0" y="0"/>
            <a:chExt cx="4724028" cy="12295967"/>
          </a:xfrm>
        </p:grpSpPr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3"/>
            <a:srcRect l="25987" r="25987"/>
            <a:stretch>
              <a:fillRect/>
            </a:stretch>
          </p:blipFill>
          <p:spPr>
            <a:xfrm>
              <a:off x="0" y="0"/>
              <a:ext cx="4724028" cy="12295967"/>
            </a:xfrm>
            <a:prstGeom prst="rect">
              <a:avLst/>
            </a:prstGeom>
          </p:spPr>
        </p:pic>
      </p:grpSp>
      <p:grpSp>
        <p:nvGrpSpPr>
          <p:cNvPr id="14" name="Group 14"/>
          <p:cNvGrpSpPr/>
          <p:nvPr/>
        </p:nvGrpSpPr>
        <p:grpSpPr>
          <a:xfrm>
            <a:off x="13031126" y="810169"/>
            <a:ext cx="392610" cy="437062"/>
            <a:chOff x="0" y="0"/>
            <a:chExt cx="523480" cy="582749"/>
          </a:xfrm>
        </p:grpSpPr>
        <p:grpSp>
          <p:nvGrpSpPr>
            <p:cNvPr id="15" name="Group 15"/>
            <p:cNvGrpSpPr/>
            <p:nvPr/>
          </p:nvGrpSpPr>
          <p:grpSpPr>
            <a:xfrm rot="5400000">
              <a:off x="297536" y="356805"/>
              <a:ext cx="241007" cy="210881"/>
              <a:chOff x="0" y="0"/>
              <a:chExt cx="812800" cy="7112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5400000">
              <a:off x="-15063" y="356805"/>
              <a:ext cx="241007" cy="210881"/>
              <a:chOff x="0" y="0"/>
              <a:chExt cx="812800" cy="7112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 rot="5400000">
              <a:off x="-15063" y="15063"/>
              <a:ext cx="241007" cy="210881"/>
              <a:chOff x="0" y="0"/>
              <a:chExt cx="812800" cy="7112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5400000">
              <a:off x="295966" y="15063"/>
              <a:ext cx="241007" cy="210881"/>
              <a:chOff x="0" y="0"/>
              <a:chExt cx="812800" cy="7112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  <p:grpSp>
        <p:nvGrpSpPr>
          <p:cNvPr id="27" name="Group 27"/>
          <p:cNvGrpSpPr/>
          <p:nvPr/>
        </p:nvGrpSpPr>
        <p:grpSpPr>
          <a:xfrm>
            <a:off x="4864264" y="9039769"/>
            <a:ext cx="392610" cy="437062"/>
            <a:chOff x="0" y="0"/>
            <a:chExt cx="523480" cy="582749"/>
          </a:xfrm>
        </p:grpSpPr>
        <p:grpSp>
          <p:nvGrpSpPr>
            <p:cNvPr id="28" name="Group 28"/>
            <p:cNvGrpSpPr/>
            <p:nvPr/>
          </p:nvGrpSpPr>
          <p:grpSpPr>
            <a:xfrm rot="5400000">
              <a:off x="297536" y="356805"/>
              <a:ext cx="241007" cy="210881"/>
              <a:chOff x="0" y="0"/>
              <a:chExt cx="812800" cy="7112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 rot="5400000">
              <a:off x="-15063" y="356805"/>
              <a:ext cx="241007" cy="210881"/>
              <a:chOff x="0" y="0"/>
              <a:chExt cx="812800" cy="7112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 rot="5400000">
              <a:off x="-15063" y="15063"/>
              <a:ext cx="241007" cy="210881"/>
              <a:chOff x="0" y="0"/>
              <a:chExt cx="812800" cy="7112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 rot="5400000">
              <a:off x="295966" y="15063"/>
              <a:ext cx="241007" cy="210881"/>
              <a:chOff x="0" y="0"/>
              <a:chExt cx="812800" cy="7112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096832" cy="8229600"/>
            <a:chOff x="0" y="0"/>
            <a:chExt cx="4239495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39495" cy="2167467"/>
            </a:xfrm>
            <a:custGeom>
              <a:avLst/>
              <a:gdLst/>
              <a:ahLst/>
              <a:cxnLst/>
              <a:rect l="l" t="t" r="r" b="b"/>
              <a:pathLst>
                <a:path w="4239495" h="2167467">
                  <a:moveTo>
                    <a:pt x="38477" y="0"/>
                  </a:moveTo>
                  <a:lnTo>
                    <a:pt x="4201018" y="0"/>
                  </a:lnTo>
                  <a:cubicBezTo>
                    <a:pt x="4211223" y="0"/>
                    <a:pt x="4221009" y="4054"/>
                    <a:pt x="4228225" y="11270"/>
                  </a:cubicBezTo>
                  <a:cubicBezTo>
                    <a:pt x="4235441" y="18485"/>
                    <a:pt x="4239495" y="28272"/>
                    <a:pt x="4239495" y="38477"/>
                  </a:cubicBezTo>
                  <a:lnTo>
                    <a:pt x="4239495" y="2128990"/>
                  </a:lnTo>
                  <a:cubicBezTo>
                    <a:pt x="4239495" y="2150240"/>
                    <a:pt x="4222268" y="2167467"/>
                    <a:pt x="4201018" y="2167467"/>
                  </a:cubicBezTo>
                  <a:lnTo>
                    <a:pt x="38477" y="2167467"/>
                  </a:lnTo>
                  <a:cubicBezTo>
                    <a:pt x="17227" y="2167467"/>
                    <a:pt x="0" y="2150240"/>
                    <a:pt x="0" y="2128990"/>
                  </a:cubicBezTo>
                  <a:lnTo>
                    <a:pt x="0" y="38477"/>
                  </a:lnTo>
                  <a:cubicBezTo>
                    <a:pt x="0" y="17227"/>
                    <a:pt x="17227" y="0"/>
                    <a:pt x="38477" y="0"/>
                  </a:cubicBezTo>
                  <a:close/>
                </a:path>
              </a:pathLst>
            </a:custGeom>
            <a:solidFill>
              <a:srgbClr val="FFDE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39495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857003" y="1356790"/>
            <a:ext cx="7051486" cy="7573420"/>
            <a:chOff x="0" y="0"/>
            <a:chExt cx="9401981" cy="10097893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/>
            <a:srcRect l="19041" r="19041"/>
            <a:stretch>
              <a:fillRect/>
            </a:stretch>
          </p:blipFill>
          <p:spPr>
            <a:xfrm>
              <a:off x="0" y="0"/>
              <a:ext cx="9401981" cy="10097893"/>
            </a:xfrm>
            <a:prstGeom prst="rect">
              <a:avLst/>
            </a:prstGeom>
          </p:spPr>
        </p:pic>
      </p:grpSp>
      <p:grpSp>
        <p:nvGrpSpPr>
          <p:cNvPr id="7" name="Group 7"/>
          <p:cNvGrpSpPr/>
          <p:nvPr/>
        </p:nvGrpSpPr>
        <p:grpSpPr>
          <a:xfrm>
            <a:off x="1884302" y="2278556"/>
            <a:ext cx="7972702" cy="7027432"/>
            <a:chOff x="0" y="0"/>
            <a:chExt cx="10630269" cy="9369909"/>
          </a:xfrm>
        </p:grpSpPr>
        <p:sp>
          <p:nvSpPr>
            <p:cNvPr id="8" name="TextBox 8"/>
            <p:cNvSpPr txBox="1"/>
            <p:nvPr/>
          </p:nvSpPr>
          <p:spPr>
            <a:xfrm>
              <a:off x="0" y="-28575"/>
              <a:ext cx="9604946" cy="12390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820"/>
                </a:lnSpc>
              </a:pPr>
              <a:r>
                <a:rPr lang="en-US" sz="6000" spc="-186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Metodologia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373777"/>
              <a:ext cx="8814071" cy="48492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99"/>
                </a:lnSpc>
              </a:pPr>
              <a:r>
                <a:rPr lang="en-US" sz="2499" b="1" spc="-124" dirty="0" err="1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Pesquisa</a:t>
              </a:r>
              <a:endParaRPr lang="en-US" sz="2499" b="1" spc="-124" dirty="0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endParaRPr>
            </a:p>
            <a:p>
              <a:pPr algn="l">
                <a:lnSpc>
                  <a:spcPts val="2599"/>
                </a:lnSpc>
              </a:pPr>
              <a:r>
                <a:rPr lang="en-US" sz="2499" b="1" spc="-124" dirty="0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↓</a:t>
              </a:r>
            </a:p>
            <a:p>
              <a:pPr algn="l">
                <a:lnSpc>
                  <a:spcPts val="2599"/>
                </a:lnSpc>
              </a:pPr>
              <a:r>
                <a:rPr lang="en-US" sz="2499" b="1" spc="-124" dirty="0" err="1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Planejamento</a:t>
              </a:r>
              <a:endParaRPr lang="en-US" sz="2499" b="1" spc="-124" dirty="0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endParaRPr>
            </a:p>
            <a:p>
              <a:pPr algn="l">
                <a:lnSpc>
                  <a:spcPts val="2599"/>
                </a:lnSpc>
              </a:pPr>
              <a:r>
                <a:rPr lang="en-US" sz="2499" b="1" spc="-124" dirty="0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↓</a:t>
              </a:r>
            </a:p>
            <a:p>
              <a:pPr algn="l">
                <a:lnSpc>
                  <a:spcPts val="2599"/>
                </a:lnSpc>
              </a:pPr>
              <a:r>
                <a:rPr lang="en-US" sz="2499" b="1" spc="-124" dirty="0" err="1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Definição</a:t>
              </a:r>
              <a:r>
                <a:rPr lang="en-US" sz="2499" b="1" spc="-124" dirty="0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 de </a:t>
              </a:r>
              <a:r>
                <a:rPr lang="en-US" sz="2499" b="1" spc="-124" dirty="0" err="1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conteúdo</a:t>
              </a:r>
              <a:endParaRPr lang="en-US" sz="2499" b="1" spc="-124" dirty="0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endParaRPr>
            </a:p>
            <a:p>
              <a:pPr algn="l">
                <a:lnSpc>
                  <a:spcPts val="2599"/>
                </a:lnSpc>
              </a:pPr>
              <a:r>
                <a:rPr lang="en-US" sz="2499" b="1" spc="-124" dirty="0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↓</a:t>
              </a:r>
            </a:p>
            <a:p>
              <a:pPr algn="l">
                <a:lnSpc>
                  <a:spcPts val="2599"/>
                </a:lnSpc>
              </a:pPr>
              <a:r>
                <a:rPr lang="en-US" sz="2499" b="1" spc="-124" dirty="0" err="1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Desenvolvimento</a:t>
              </a:r>
              <a:endParaRPr lang="en-US" sz="2499" b="1" spc="-124" dirty="0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endParaRPr>
            </a:p>
            <a:p>
              <a:pPr algn="l">
                <a:lnSpc>
                  <a:spcPts val="2599"/>
                </a:lnSpc>
              </a:pPr>
              <a:r>
                <a:rPr lang="en-US" sz="2499" b="1" spc="-124" dirty="0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↓</a:t>
              </a:r>
            </a:p>
            <a:p>
              <a:pPr algn="l">
                <a:lnSpc>
                  <a:spcPts val="2599"/>
                </a:lnSpc>
              </a:pPr>
              <a:r>
                <a:rPr lang="en-US" sz="2499" b="1" spc="-124" dirty="0" err="1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Exercícios</a:t>
              </a:r>
              <a:endParaRPr lang="en-US" sz="2499" b="1" spc="-124" dirty="0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endParaRPr>
            </a:p>
            <a:p>
              <a:pPr algn="l">
                <a:lnSpc>
                  <a:spcPts val="2599"/>
                </a:lnSpc>
              </a:pPr>
              <a:r>
                <a:rPr lang="en-US" sz="2499" b="1" spc="-124" dirty="0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↓</a:t>
              </a:r>
            </a:p>
            <a:p>
              <a:pPr algn="l">
                <a:lnSpc>
                  <a:spcPts val="2599"/>
                </a:lnSpc>
              </a:pPr>
              <a:r>
                <a:rPr lang="en-US" sz="2499" b="1" spc="-124" dirty="0">
                  <a:solidFill>
                    <a:srgbClr val="000000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Teste Final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8965459"/>
              <a:ext cx="10630269" cy="404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35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5400000">
            <a:off x="8961408" y="3904754"/>
            <a:ext cx="392610" cy="437062"/>
            <a:chOff x="0" y="0"/>
            <a:chExt cx="523480" cy="582749"/>
          </a:xfrm>
        </p:grpSpPr>
        <p:grpSp>
          <p:nvGrpSpPr>
            <p:cNvPr id="12" name="Group 12"/>
            <p:cNvGrpSpPr/>
            <p:nvPr/>
          </p:nvGrpSpPr>
          <p:grpSpPr>
            <a:xfrm rot="5400000">
              <a:off x="297536" y="356805"/>
              <a:ext cx="241007" cy="210881"/>
              <a:chOff x="0" y="0"/>
              <a:chExt cx="812800" cy="7112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5400000">
              <a:off x="-15063" y="356805"/>
              <a:ext cx="241007" cy="210881"/>
              <a:chOff x="0" y="0"/>
              <a:chExt cx="812800" cy="7112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5400000">
              <a:off x="-15063" y="15063"/>
              <a:ext cx="241007" cy="210881"/>
              <a:chOff x="0" y="0"/>
              <a:chExt cx="812800" cy="7112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 rot="5400000">
              <a:off x="295966" y="15063"/>
              <a:ext cx="241007" cy="210881"/>
              <a:chOff x="0" y="0"/>
              <a:chExt cx="812800" cy="7112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0169" y="1726076"/>
            <a:ext cx="9154596" cy="6740119"/>
            <a:chOff x="0" y="0"/>
            <a:chExt cx="1840788" cy="13552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40788" cy="1355290"/>
            </a:xfrm>
            <a:custGeom>
              <a:avLst/>
              <a:gdLst/>
              <a:ahLst/>
              <a:cxnLst/>
              <a:rect l="l" t="t" r="r" b="b"/>
              <a:pathLst>
                <a:path w="1840788" h="1355290">
                  <a:moveTo>
                    <a:pt x="67655" y="0"/>
                  </a:moveTo>
                  <a:lnTo>
                    <a:pt x="1773133" y="0"/>
                  </a:lnTo>
                  <a:cubicBezTo>
                    <a:pt x="1791076" y="0"/>
                    <a:pt x="1808284" y="7128"/>
                    <a:pt x="1820972" y="19816"/>
                  </a:cubicBezTo>
                  <a:cubicBezTo>
                    <a:pt x="1833660" y="32503"/>
                    <a:pt x="1840788" y="49712"/>
                    <a:pt x="1840788" y="67655"/>
                  </a:cubicBezTo>
                  <a:lnTo>
                    <a:pt x="1840788" y="1287635"/>
                  </a:lnTo>
                  <a:cubicBezTo>
                    <a:pt x="1840788" y="1305578"/>
                    <a:pt x="1833660" y="1322786"/>
                    <a:pt x="1820972" y="1335474"/>
                  </a:cubicBezTo>
                  <a:cubicBezTo>
                    <a:pt x="1808284" y="1348162"/>
                    <a:pt x="1791076" y="1355290"/>
                    <a:pt x="1773133" y="1355290"/>
                  </a:cubicBezTo>
                  <a:lnTo>
                    <a:pt x="67655" y="1355290"/>
                  </a:lnTo>
                  <a:cubicBezTo>
                    <a:pt x="49712" y="1355290"/>
                    <a:pt x="32503" y="1348162"/>
                    <a:pt x="19816" y="1335474"/>
                  </a:cubicBezTo>
                  <a:cubicBezTo>
                    <a:pt x="7128" y="1322786"/>
                    <a:pt x="0" y="1305578"/>
                    <a:pt x="0" y="1287635"/>
                  </a:cubicBezTo>
                  <a:lnTo>
                    <a:pt x="0" y="67655"/>
                  </a:lnTo>
                  <a:cubicBezTo>
                    <a:pt x="0" y="49712"/>
                    <a:pt x="7128" y="32503"/>
                    <a:pt x="19816" y="19816"/>
                  </a:cubicBezTo>
                  <a:cubicBezTo>
                    <a:pt x="32503" y="7128"/>
                    <a:pt x="49712" y="0"/>
                    <a:pt x="67655" y="0"/>
                  </a:cubicBezTo>
                  <a:close/>
                </a:path>
              </a:pathLst>
            </a:custGeom>
            <a:solidFill>
              <a:srgbClr val="FFDE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840788" cy="1402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43000" y="2061187"/>
            <a:ext cx="8370129" cy="6069897"/>
            <a:chOff x="0" y="0"/>
            <a:chExt cx="11001764" cy="8093196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/>
            <a:srcRect l="11785" r="11785"/>
            <a:stretch>
              <a:fillRect/>
            </a:stretch>
          </p:blipFill>
          <p:spPr>
            <a:xfrm>
              <a:off x="0" y="0"/>
              <a:ext cx="11001764" cy="8093196"/>
            </a:xfrm>
            <a:prstGeom prst="rect">
              <a:avLst/>
            </a:prstGeom>
          </p:spPr>
        </p:pic>
      </p:grpSp>
      <p:grpSp>
        <p:nvGrpSpPr>
          <p:cNvPr id="7" name="Group 7"/>
          <p:cNvGrpSpPr/>
          <p:nvPr/>
        </p:nvGrpSpPr>
        <p:grpSpPr>
          <a:xfrm>
            <a:off x="11357387" y="276254"/>
            <a:ext cx="6268941" cy="9231081"/>
            <a:chOff x="0" y="0"/>
            <a:chExt cx="1840788" cy="271057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40788" cy="2710579"/>
            </a:xfrm>
            <a:custGeom>
              <a:avLst/>
              <a:gdLst/>
              <a:ahLst/>
              <a:cxnLst/>
              <a:rect l="l" t="t" r="r" b="b"/>
              <a:pathLst>
                <a:path w="1840788" h="2710579">
                  <a:moveTo>
                    <a:pt x="98797" y="0"/>
                  </a:moveTo>
                  <a:lnTo>
                    <a:pt x="1741991" y="0"/>
                  </a:lnTo>
                  <a:cubicBezTo>
                    <a:pt x="1796555" y="0"/>
                    <a:pt x="1840788" y="44233"/>
                    <a:pt x="1840788" y="98797"/>
                  </a:cubicBezTo>
                  <a:lnTo>
                    <a:pt x="1840788" y="2611782"/>
                  </a:lnTo>
                  <a:cubicBezTo>
                    <a:pt x="1840788" y="2666346"/>
                    <a:pt x="1796555" y="2710579"/>
                    <a:pt x="1741991" y="2710579"/>
                  </a:cubicBezTo>
                  <a:lnTo>
                    <a:pt x="98797" y="2710579"/>
                  </a:lnTo>
                  <a:cubicBezTo>
                    <a:pt x="44233" y="2710579"/>
                    <a:pt x="0" y="2666346"/>
                    <a:pt x="0" y="2611782"/>
                  </a:cubicBezTo>
                  <a:lnTo>
                    <a:pt x="0" y="98797"/>
                  </a:lnTo>
                  <a:cubicBezTo>
                    <a:pt x="0" y="44233"/>
                    <a:pt x="44233" y="0"/>
                    <a:pt x="98797" y="0"/>
                  </a:cubicBezTo>
                  <a:close/>
                </a:path>
              </a:pathLst>
            </a:custGeom>
            <a:solidFill>
              <a:srgbClr val="FFDE0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840788" cy="27582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5400000">
            <a:off x="16931641" y="3445893"/>
            <a:ext cx="392610" cy="437062"/>
            <a:chOff x="0" y="0"/>
            <a:chExt cx="523480" cy="582749"/>
          </a:xfrm>
        </p:grpSpPr>
        <p:grpSp>
          <p:nvGrpSpPr>
            <p:cNvPr id="11" name="Group 11"/>
            <p:cNvGrpSpPr/>
            <p:nvPr/>
          </p:nvGrpSpPr>
          <p:grpSpPr>
            <a:xfrm rot="5400000">
              <a:off x="297536" y="356805"/>
              <a:ext cx="241007" cy="210881"/>
              <a:chOff x="0" y="0"/>
              <a:chExt cx="812800" cy="7112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5400000">
              <a:off x="-15063" y="356805"/>
              <a:ext cx="241007" cy="210881"/>
              <a:chOff x="0" y="0"/>
              <a:chExt cx="812800" cy="7112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5400000">
              <a:off x="-15063" y="15063"/>
              <a:ext cx="241007" cy="210881"/>
              <a:chOff x="0" y="0"/>
              <a:chExt cx="812800" cy="7112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5400000">
              <a:off x="295966" y="15063"/>
              <a:ext cx="241007" cy="210881"/>
              <a:chOff x="0" y="0"/>
              <a:chExt cx="812800" cy="7112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  <p:sp>
        <p:nvSpPr>
          <p:cNvPr id="23" name="TextBox 23"/>
          <p:cNvSpPr txBox="1"/>
          <p:nvPr/>
        </p:nvSpPr>
        <p:spPr>
          <a:xfrm>
            <a:off x="1373510" y="438667"/>
            <a:ext cx="7024401" cy="89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5"/>
              </a:lnSpc>
            </a:pPr>
            <a:r>
              <a:rPr lang="en-US" sz="5850" u="sng" spc="-181">
                <a:solidFill>
                  <a:srgbClr val="FFDE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Interface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1357387" y="276254"/>
            <a:ext cx="6268941" cy="4615540"/>
            <a:chOff x="0" y="0"/>
            <a:chExt cx="1840788" cy="135529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840788" cy="1355290"/>
            </a:xfrm>
            <a:custGeom>
              <a:avLst/>
              <a:gdLst/>
              <a:ahLst/>
              <a:cxnLst/>
              <a:rect l="l" t="t" r="r" b="b"/>
              <a:pathLst>
                <a:path w="1840788" h="1355290">
                  <a:moveTo>
                    <a:pt x="98797" y="0"/>
                  </a:moveTo>
                  <a:lnTo>
                    <a:pt x="1741991" y="0"/>
                  </a:lnTo>
                  <a:cubicBezTo>
                    <a:pt x="1796555" y="0"/>
                    <a:pt x="1840788" y="44233"/>
                    <a:pt x="1840788" y="98797"/>
                  </a:cubicBezTo>
                  <a:lnTo>
                    <a:pt x="1840788" y="1256492"/>
                  </a:lnTo>
                  <a:cubicBezTo>
                    <a:pt x="1840788" y="1311057"/>
                    <a:pt x="1796555" y="1355290"/>
                    <a:pt x="1741991" y="1355290"/>
                  </a:cubicBezTo>
                  <a:lnTo>
                    <a:pt x="98797" y="1355290"/>
                  </a:lnTo>
                  <a:cubicBezTo>
                    <a:pt x="44233" y="1355290"/>
                    <a:pt x="0" y="1311057"/>
                    <a:pt x="0" y="1256492"/>
                  </a:cubicBezTo>
                  <a:lnTo>
                    <a:pt x="0" y="98797"/>
                  </a:lnTo>
                  <a:cubicBezTo>
                    <a:pt x="0" y="44233"/>
                    <a:pt x="44233" y="0"/>
                    <a:pt x="98797" y="0"/>
                  </a:cubicBezTo>
                  <a:close/>
                </a:path>
              </a:pathLst>
            </a:custGeom>
            <a:solidFill>
              <a:srgbClr val="FFDE00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840788" cy="1402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666661" y="505734"/>
            <a:ext cx="5650392" cy="4156581"/>
            <a:chOff x="0" y="0"/>
            <a:chExt cx="7533855" cy="5542109"/>
          </a:xfrm>
        </p:grpSpPr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3"/>
            <a:srcRect l="11785" r="11785"/>
            <a:stretch>
              <a:fillRect/>
            </a:stretch>
          </p:blipFill>
          <p:spPr>
            <a:xfrm>
              <a:off x="0" y="0"/>
              <a:ext cx="7533855" cy="5542109"/>
            </a:xfrm>
            <a:prstGeom prst="rect">
              <a:avLst/>
            </a:prstGeom>
          </p:spPr>
        </p:pic>
      </p:grpSp>
      <p:grpSp>
        <p:nvGrpSpPr>
          <p:cNvPr id="29" name="Group 29"/>
          <p:cNvGrpSpPr/>
          <p:nvPr/>
        </p:nvGrpSpPr>
        <p:grpSpPr>
          <a:xfrm>
            <a:off x="11666661" y="5121274"/>
            <a:ext cx="5650392" cy="4156581"/>
            <a:chOff x="0" y="0"/>
            <a:chExt cx="7533855" cy="5542109"/>
          </a:xfrm>
        </p:grpSpPr>
        <p:pic>
          <p:nvPicPr>
            <p:cNvPr id="30" name="Picture 30"/>
            <p:cNvPicPr>
              <a:picLocks noChangeAspect="1"/>
            </p:cNvPicPr>
            <p:nvPr/>
          </p:nvPicPr>
          <p:blipFill>
            <a:blip r:embed="rId4"/>
            <a:srcRect l="11785" r="11785"/>
            <a:stretch>
              <a:fillRect/>
            </a:stretch>
          </p:blipFill>
          <p:spPr>
            <a:xfrm>
              <a:off x="0" y="0"/>
              <a:ext cx="7533855" cy="5542109"/>
            </a:xfrm>
            <a:prstGeom prst="rect">
              <a:avLst/>
            </a:prstGeom>
          </p:spPr>
        </p:pic>
      </p:grpSp>
      <p:grpSp>
        <p:nvGrpSpPr>
          <p:cNvPr id="31" name="Group 31"/>
          <p:cNvGrpSpPr/>
          <p:nvPr/>
        </p:nvGrpSpPr>
        <p:grpSpPr>
          <a:xfrm rot="-5400000">
            <a:off x="10732881" y="1311240"/>
            <a:ext cx="392610" cy="437062"/>
            <a:chOff x="0" y="0"/>
            <a:chExt cx="523480" cy="582749"/>
          </a:xfrm>
        </p:grpSpPr>
        <p:grpSp>
          <p:nvGrpSpPr>
            <p:cNvPr id="32" name="Group 32"/>
            <p:cNvGrpSpPr/>
            <p:nvPr/>
          </p:nvGrpSpPr>
          <p:grpSpPr>
            <a:xfrm rot="5400000">
              <a:off x="297536" y="356805"/>
              <a:ext cx="241007" cy="210881"/>
              <a:chOff x="0" y="0"/>
              <a:chExt cx="812800" cy="7112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 rot="5400000">
              <a:off x="-15063" y="356805"/>
              <a:ext cx="241007" cy="210881"/>
              <a:chOff x="0" y="0"/>
              <a:chExt cx="812800" cy="7112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 rot="5400000">
              <a:off x="-15063" y="15063"/>
              <a:ext cx="241007" cy="210881"/>
              <a:chOff x="0" y="0"/>
              <a:chExt cx="812800" cy="7112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 rot="5400000">
              <a:off x="295966" y="15063"/>
              <a:ext cx="241007" cy="210881"/>
              <a:chOff x="0" y="0"/>
              <a:chExt cx="812800" cy="7112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 rot="-10800000">
            <a:off x="1261806" y="8663467"/>
            <a:ext cx="392610" cy="437062"/>
            <a:chOff x="0" y="0"/>
            <a:chExt cx="523480" cy="582749"/>
          </a:xfrm>
        </p:grpSpPr>
        <p:grpSp>
          <p:nvGrpSpPr>
            <p:cNvPr id="45" name="Group 45"/>
            <p:cNvGrpSpPr/>
            <p:nvPr/>
          </p:nvGrpSpPr>
          <p:grpSpPr>
            <a:xfrm rot="5400000">
              <a:off x="297536" y="356805"/>
              <a:ext cx="241007" cy="210881"/>
              <a:chOff x="0" y="0"/>
              <a:chExt cx="812800" cy="7112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 rot="5400000">
              <a:off x="-15063" y="356805"/>
              <a:ext cx="241007" cy="210881"/>
              <a:chOff x="0" y="0"/>
              <a:chExt cx="812800" cy="7112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 rot="5400000">
              <a:off x="-15063" y="15063"/>
              <a:ext cx="241007" cy="210881"/>
              <a:chOff x="0" y="0"/>
              <a:chExt cx="812800" cy="7112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 rot="5400000">
              <a:off x="295966" y="15063"/>
              <a:ext cx="241007" cy="210881"/>
              <a:chOff x="0" y="0"/>
              <a:chExt cx="812800" cy="71120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79804" y="1028700"/>
            <a:ext cx="13664538" cy="8229600"/>
            <a:chOff x="0" y="0"/>
            <a:chExt cx="3598891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98891" cy="2167467"/>
            </a:xfrm>
            <a:custGeom>
              <a:avLst/>
              <a:gdLst/>
              <a:ahLst/>
              <a:cxnLst/>
              <a:rect l="l" t="t" r="r" b="b"/>
              <a:pathLst>
                <a:path w="3598891" h="2167467">
                  <a:moveTo>
                    <a:pt x="45326" y="0"/>
                  </a:moveTo>
                  <a:lnTo>
                    <a:pt x="3553565" y="0"/>
                  </a:lnTo>
                  <a:cubicBezTo>
                    <a:pt x="3578598" y="0"/>
                    <a:pt x="3598891" y="20293"/>
                    <a:pt x="3598891" y="45326"/>
                  </a:cubicBezTo>
                  <a:lnTo>
                    <a:pt x="3598891" y="2122141"/>
                  </a:lnTo>
                  <a:cubicBezTo>
                    <a:pt x="3598891" y="2147174"/>
                    <a:pt x="3578598" y="2167467"/>
                    <a:pt x="3553565" y="2167467"/>
                  </a:cubicBezTo>
                  <a:lnTo>
                    <a:pt x="45326" y="2167467"/>
                  </a:lnTo>
                  <a:cubicBezTo>
                    <a:pt x="20293" y="2167467"/>
                    <a:pt x="0" y="2147174"/>
                    <a:pt x="0" y="2122141"/>
                  </a:cubicBezTo>
                  <a:lnTo>
                    <a:pt x="0" y="45326"/>
                  </a:lnTo>
                  <a:cubicBezTo>
                    <a:pt x="0" y="20293"/>
                    <a:pt x="20293" y="0"/>
                    <a:pt x="45326" y="0"/>
                  </a:cubicBezTo>
                  <a:close/>
                </a:path>
              </a:pathLst>
            </a:custGeom>
            <a:solidFill>
              <a:srgbClr val="FFDE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598891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938453" y="1028700"/>
            <a:ext cx="6989242" cy="8229600"/>
            <a:chOff x="0" y="0"/>
            <a:chExt cx="1840788" cy="21674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40788" cy="2167467"/>
            </a:xfrm>
            <a:custGeom>
              <a:avLst/>
              <a:gdLst/>
              <a:ahLst/>
              <a:cxnLst/>
              <a:rect l="l" t="t" r="r" b="b"/>
              <a:pathLst>
                <a:path w="1840788" h="2167467">
                  <a:moveTo>
                    <a:pt x="88615" y="0"/>
                  </a:moveTo>
                  <a:lnTo>
                    <a:pt x="1752173" y="0"/>
                  </a:lnTo>
                  <a:cubicBezTo>
                    <a:pt x="1801114" y="0"/>
                    <a:pt x="1840788" y="39674"/>
                    <a:pt x="1840788" y="88615"/>
                  </a:cubicBezTo>
                  <a:lnTo>
                    <a:pt x="1840788" y="2078851"/>
                  </a:lnTo>
                  <a:cubicBezTo>
                    <a:pt x="1840788" y="2127792"/>
                    <a:pt x="1801114" y="2167467"/>
                    <a:pt x="1752173" y="2167467"/>
                  </a:cubicBezTo>
                  <a:lnTo>
                    <a:pt x="88615" y="2167467"/>
                  </a:lnTo>
                  <a:cubicBezTo>
                    <a:pt x="39674" y="2167467"/>
                    <a:pt x="0" y="2127792"/>
                    <a:pt x="0" y="2078851"/>
                  </a:cubicBezTo>
                  <a:lnTo>
                    <a:pt x="0" y="88615"/>
                  </a:lnTo>
                  <a:cubicBezTo>
                    <a:pt x="0" y="39674"/>
                    <a:pt x="39674" y="0"/>
                    <a:pt x="88615" y="0"/>
                  </a:cubicBezTo>
                  <a:close/>
                </a:path>
              </a:pathLst>
            </a:custGeom>
            <a:solidFill>
              <a:srgbClr val="FFDE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840788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776300" y="1437866"/>
            <a:ext cx="6299621" cy="7411267"/>
            <a:chOff x="0" y="0"/>
            <a:chExt cx="8399495" cy="9881689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2"/>
            <a:srcRect l="23012" r="23012"/>
            <a:stretch>
              <a:fillRect/>
            </a:stretch>
          </p:blipFill>
          <p:spPr>
            <a:xfrm>
              <a:off x="0" y="0"/>
              <a:ext cx="8399495" cy="9881689"/>
            </a:xfrm>
            <a:prstGeom prst="rect">
              <a:avLst/>
            </a:prstGeom>
          </p:spPr>
        </p:pic>
      </p:grpSp>
      <p:sp>
        <p:nvSpPr>
          <p:cNvPr id="10" name="TextBox 10"/>
          <p:cNvSpPr txBox="1"/>
          <p:nvPr/>
        </p:nvSpPr>
        <p:spPr>
          <a:xfrm>
            <a:off x="6333349" y="2010336"/>
            <a:ext cx="11293896" cy="89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5"/>
              </a:lnSpc>
            </a:pPr>
            <a:r>
              <a:rPr lang="en-US" sz="5850" spc="-181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CURSOS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333349" y="2943235"/>
            <a:ext cx="11448346" cy="804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999" b="1" spc="-149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 plataforma é integrada com guias e cursos, cada um com suas proposta e  diversos exercícios para aplicar a teórica apresentada: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056665" y="4150952"/>
            <a:ext cx="6827162" cy="4470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55"/>
              </a:lnSpc>
            </a:pPr>
            <a:r>
              <a:rPr lang="en-US" sz="2375" b="1" spc="-11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Peças</a:t>
            </a:r>
          </a:p>
          <a:p>
            <a:pPr algn="just">
              <a:lnSpc>
                <a:spcPts val="2755"/>
              </a:lnSpc>
            </a:pPr>
            <a:r>
              <a:rPr lang="en-US" sz="2375" spc="-11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Fundamentos e características das peças.</a:t>
            </a:r>
          </a:p>
          <a:p>
            <a:pPr algn="just">
              <a:lnSpc>
                <a:spcPts val="2755"/>
              </a:lnSpc>
            </a:pPr>
            <a:endParaRPr lang="en-US" sz="2375" spc="-118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just">
              <a:lnSpc>
                <a:spcPts val="2755"/>
              </a:lnSpc>
            </a:pPr>
            <a:r>
              <a:rPr lang="en-US" sz="2375" b="1" spc="-11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Xeque-mate</a:t>
            </a:r>
          </a:p>
          <a:p>
            <a:pPr algn="just">
              <a:lnSpc>
                <a:spcPts val="2755"/>
              </a:lnSpc>
            </a:pPr>
            <a:r>
              <a:rPr lang="en-US" sz="2375" spc="-11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Conceitos relacionados à finalização das partidas.</a:t>
            </a:r>
          </a:p>
          <a:p>
            <a:pPr algn="just">
              <a:lnSpc>
                <a:spcPts val="2755"/>
              </a:lnSpc>
            </a:pPr>
            <a:endParaRPr lang="en-US" sz="2375" spc="-118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just">
              <a:lnSpc>
                <a:spcPts val="2755"/>
              </a:lnSpc>
            </a:pPr>
            <a:r>
              <a:rPr lang="en-US" sz="2375" b="1" spc="-11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Aberturas</a:t>
            </a:r>
          </a:p>
          <a:p>
            <a:pPr algn="just">
              <a:lnSpc>
                <a:spcPts val="2755"/>
              </a:lnSpc>
            </a:pPr>
            <a:r>
              <a:rPr lang="en-US" sz="2375" spc="-11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Conceitos e princípios das primeiras jogadas.</a:t>
            </a:r>
          </a:p>
          <a:p>
            <a:pPr algn="just">
              <a:lnSpc>
                <a:spcPts val="2755"/>
              </a:lnSpc>
            </a:pPr>
            <a:endParaRPr lang="en-US" sz="2375" spc="-118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just">
              <a:lnSpc>
                <a:spcPts val="2755"/>
              </a:lnSpc>
            </a:pPr>
            <a:r>
              <a:rPr lang="en-US" sz="2375" b="1" spc="-11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Táticas</a:t>
            </a:r>
          </a:p>
          <a:p>
            <a:pPr algn="just">
              <a:lnSpc>
                <a:spcPts val="2755"/>
              </a:lnSpc>
            </a:pPr>
            <a:r>
              <a:rPr lang="en-US" sz="2375" spc="-11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Padrões e estratégias para obter vantagens durante a partida.</a:t>
            </a:r>
          </a:p>
          <a:p>
            <a:pPr algn="just">
              <a:lnSpc>
                <a:spcPts val="2755"/>
              </a:lnSpc>
            </a:pPr>
            <a:endParaRPr lang="en-US" sz="2375" spc="-118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6333349" y="4150952"/>
            <a:ext cx="392610" cy="437062"/>
            <a:chOff x="0" y="0"/>
            <a:chExt cx="523480" cy="582749"/>
          </a:xfrm>
        </p:grpSpPr>
        <p:grpSp>
          <p:nvGrpSpPr>
            <p:cNvPr id="14" name="Group 14"/>
            <p:cNvGrpSpPr/>
            <p:nvPr/>
          </p:nvGrpSpPr>
          <p:grpSpPr>
            <a:xfrm rot="5400000">
              <a:off x="297536" y="356805"/>
              <a:ext cx="241007" cy="210881"/>
              <a:chOff x="0" y="0"/>
              <a:chExt cx="812800" cy="7112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5400000">
              <a:off x="-15063" y="356805"/>
              <a:ext cx="241007" cy="210881"/>
              <a:chOff x="0" y="0"/>
              <a:chExt cx="812800" cy="7112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5400000">
              <a:off x="-15063" y="15063"/>
              <a:ext cx="241007" cy="210881"/>
              <a:chOff x="0" y="0"/>
              <a:chExt cx="812800" cy="7112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 rot="5400000">
              <a:off x="295966" y="15063"/>
              <a:ext cx="241007" cy="210881"/>
              <a:chOff x="0" y="0"/>
              <a:chExt cx="812800" cy="7112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  <p:grpSp>
        <p:nvGrpSpPr>
          <p:cNvPr id="26" name="Group 26"/>
          <p:cNvGrpSpPr/>
          <p:nvPr/>
        </p:nvGrpSpPr>
        <p:grpSpPr>
          <a:xfrm>
            <a:off x="16933451" y="4150952"/>
            <a:ext cx="392610" cy="437062"/>
            <a:chOff x="0" y="0"/>
            <a:chExt cx="523480" cy="582749"/>
          </a:xfrm>
        </p:grpSpPr>
        <p:grpSp>
          <p:nvGrpSpPr>
            <p:cNvPr id="27" name="Group 27"/>
            <p:cNvGrpSpPr/>
            <p:nvPr/>
          </p:nvGrpSpPr>
          <p:grpSpPr>
            <a:xfrm rot="5400000">
              <a:off x="297536" y="356805"/>
              <a:ext cx="241007" cy="210881"/>
              <a:chOff x="0" y="0"/>
              <a:chExt cx="812800" cy="7112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 rot="5400000">
              <a:off x="-15063" y="356805"/>
              <a:ext cx="241007" cy="210881"/>
              <a:chOff x="0" y="0"/>
              <a:chExt cx="812800" cy="7112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 rot="5400000">
              <a:off x="-15063" y="15063"/>
              <a:ext cx="241007" cy="210881"/>
              <a:chOff x="0" y="0"/>
              <a:chExt cx="812800" cy="7112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 rot="5400000">
              <a:off x="295966" y="15063"/>
              <a:ext cx="241007" cy="210881"/>
              <a:chOff x="0" y="0"/>
              <a:chExt cx="812800" cy="7112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73131" y="1028700"/>
            <a:ext cx="9502612" cy="8229600"/>
            <a:chOff x="0" y="0"/>
            <a:chExt cx="250274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2746" cy="2167467"/>
            </a:xfrm>
            <a:custGeom>
              <a:avLst/>
              <a:gdLst/>
              <a:ahLst/>
              <a:cxnLst/>
              <a:rect l="l" t="t" r="r" b="b"/>
              <a:pathLst>
                <a:path w="2502746" h="2167467">
                  <a:moveTo>
                    <a:pt x="65177" y="0"/>
                  </a:moveTo>
                  <a:lnTo>
                    <a:pt x="2437568" y="0"/>
                  </a:lnTo>
                  <a:cubicBezTo>
                    <a:pt x="2454855" y="0"/>
                    <a:pt x="2471433" y="6867"/>
                    <a:pt x="2483656" y="19090"/>
                  </a:cubicBezTo>
                  <a:cubicBezTo>
                    <a:pt x="2495879" y="31313"/>
                    <a:pt x="2502746" y="47891"/>
                    <a:pt x="2502746" y="65177"/>
                  </a:cubicBezTo>
                  <a:lnTo>
                    <a:pt x="2502746" y="2102290"/>
                  </a:lnTo>
                  <a:cubicBezTo>
                    <a:pt x="2502746" y="2138286"/>
                    <a:pt x="2473565" y="2167467"/>
                    <a:pt x="2437568" y="2167467"/>
                  </a:cubicBezTo>
                  <a:lnTo>
                    <a:pt x="65177" y="2167467"/>
                  </a:lnTo>
                  <a:cubicBezTo>
                    <a:pt x="29181" y="2167467"/>
                    <a:pt x="0" y="2138286"/>
                    <a:pt x="0" y="2102290"/>
                  </a:cubicBezTo>
                  <a:lnTo>
                    <a:pt x="0" y="65177"/>
                  </a:lnTo>
                  <a:cubicBezTo>
                    <a:pt x="0" y="29181"/>
                    <a:pt x="29181" y="0"/>
                    <a:pt x="65177" y="0"/>
                  </a:cubicBezTo>
                  <a:close/>
                </a:path>
              </a:pathLst>
            </a:custGeom>
            <a:ln w="19050" cap="rnd">
              <a:solidFill>
                <a:srgbClr val="FFDE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502746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028700"/>
            <a:ext cx="8366339" cy="8229600"/>
            <a:chOff x="0" y="0"/>
            <a:chExt cx="2203480" cy="21674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03480" cy="2167467"/>
            </a:xfrm>
            <a:custGeom>
              <a:avLst/>
              <a:gdLst/>
              <a:ahLst/>
              <a:cxnLst/>
              <a:rect l="l" t="t" r="r" b="b"/>
              <a:pathLst>
                <a:path w="2203480" h="2167467">
                  <a:moveTo>
                    <a:pt x="74029" y="0"/>
                  </a:moveTo>
                  <a:lnTo>
                    <a:pt x="2129451" y="0"/>
                  </a:lnTo>
                  <a:cubicBezTo>
                    <a:pt x="2149085" y="0"/>
                    <a:pt x="2167914" y="7799"/>
                    <a:pt x="2181798" y="21683"/>
                  </a:cubicBezTo>
                  <a:cubicBezTo>
                    <a:pt x="2195681" y="35566"/>
                    <a:pt x="2203480" y="54395"/>
                    <a:pt x="2203480" y="74029"/>
                  </a:cubicBezTo>
                  <a:lnTo>
                    <a:pt x="2203480" y="2093438"/>
                  </a:lnTo>
                  <a:cubicBezTo>
                    <a:pt x="2203480" y="2113071"/>
                    <a:pt x="2195681" y="2131901"/>
                    <a:pt x="2181798" y="2145784"/>
                  </a:cubicBezTo>
                  <a:cubicBezTo>
                    <a:pt x="2167914" y="2159667"/>
                    <a:pt x="2149085" y="2167467"/>
                    <a:pt x="2129451" y="2167467"/>
                  </a:cubicBezTo>
                  <a:lnTo>
                    <a:pt x="74029" y="2167467"/>
                  </a:lnTo>
                  <a:cubicBezTo>
                    <a:pt x="54395" y="2167467"/>
                    <a:pt x="35566" y="2159667"/>
                    <a:pt x="21683" y="2145784"/>
                  </a:cubicBezTo>
                  <a:cubicBezTo>
                    <a:pt x="7799" y="2131901"/>
                    <a:pt x="0" y="2113071"/>
                    <a:pt x="0" y="2093438"/>
                  </a:cubicBezTo>
                  <a:lnTo>
                    <a:pt x="0" y="74029"/>
                  </a:lnTo>
                  <a:cubicBezTo>
                    <a:pt x="0" y="54395"/>
                    <a:pt x="7799" y="35566"/>
                    <a:pt x="21683" y="21683"/>
                  </a:cubicBezTo>
                  <a:cubicBezTo>
                    <a:pt x="35566" y="7799"/>
                    <a:pt x="54395" y="0"/>
                    <a:pt x="74029" y="0"/>
                  </a:cubicBezTo>
                  <a:close/>
                </a:path>
              </a:pathLst>
            </a:custGeom>
            <a:solidFill>
              <a:srgbClr val="FFDE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203480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5400000">
            <a:off x="16397300" y="3753704"/>
            <a:ext cx="392610" cy="437062"/>
            <a:chOff x="0" y="0"/>
            <a:chExt cx="523480" cy="582749"/>
          </a:xfrm>
        </p:grpSpPr>
        <p:grpSp>
          <p:nvGrpSpPr>
            <p:cNvPr id="9" name="Group 9"/>
            <p:cNvGrpSpPr/>
            <p:nvPr/>
          </p:nvGrpSpPr>
          <p:grpSpPr>
            <a:xfrm rot="5400000">
              <a:off x="297536" y="356805"/>
              <a:ext cx="241007" cy="210881"/>
              <a:chOff x="0" y="0"/>
              <a:chExt cx="812800" cy="7112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5400000">
              <a:off x="-15063" y="356805"/>
              <a:ext cx="241007" cy="210881"/>
              <a:chOff x="0" y="0"/>
              <a:chExt cx="812800" cy="7112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5400000">
              <a:off x="-15063" y="15063"/>
              <a:ext cx="241007" cy="210881"/>
              <a:chOff x="0" y="0"/>
              <a:chExt cx="812800" cy="7112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5400000">
              <a:off x="295966" y="15063"/>
              <a:ext cx="241007" cy="210881"/>
              <a:chOff x="0" y="0"/>
              <a:chExt cx="812800" cy="7112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  <p:sp>
        <p:nvSpPr>
          <p:cNvPr id="21" name="Freeform 21"/>
          <p:cNvSpPr/>
          <p:nvPr/>
        </p:nvSpPr>
        <p:spPr>
          <a:xfrm rot="-842070">
            <a:off x="1978757" y="1744677"/>
            <a:ext cx="2304134" cy="3245260"/>
          </a:xfrm>
          <a:custGeom>
            <a:avLst/>
            <a:gdLst/>
            <a:ahLst/>
            <a:cxnLst/>
            <a:rect l="l" t="t" r="r" b="b"/>
            <a:pathLst>
              <a:path w="2304134" h="3245260">
                <a:moveTo>
                  <a:pt x="0" y="0"/>
                </a:moveTo>
                <a:lnTo>
                  <a:pt x="2304134" y="0"/>
                </a:lnTo>
                <a:lnTo>
                  <a:pt x="2304134" y="3245260"/>
                </a:lnTo>
                <a:lnTo>
                  <a:pt x="0" y="32452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 rot="726673">
            <a:off x="6085939" y="3889442"/>
            <a:ext cx="2303397" cy="2662887"/>
          </a:xfrm>
          <a:custGeom>
            <a:avLst/>
            <a:gdLst/>
            <a:ahLst/>
            <a:cxnLst/>
            <a:rect l="l" t="t" r="r" b="b"/>
            <a:pathLst>
              <a:path w="2303397" h="2662887">
                <a:moveTo>
                  <a:pt x="0" y="0"/>
                </a:moveTo>
                <a:lnTo>
                  <a:pt x="2303397" y="0"/>
                </a:lnTo>
                <a:lnTo>
                  <a:pt x="2303397" y="2662886"/>
                </a:lnTo>
                <a:lnTo>
                  <a:pt x="0" y="2662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rot="-1518151">
            <a:off x="2779303" y="6373379"/>
            <a:ext cx="2335227" cy="2101705"/>
          </a:xfrm>
          <a:custGeom>
            <a:avLst/>
            <a:gdLst/>
            <a:ahLst/>
            <a:cxnLst/>
            <a:rect l="l" t="t" r="r" b="b"/>
            <a:pathLst>
              <a:path w="2335227" h="2101705">
                <a:moveTo>
                  <a:pt x="0" y="0"/>
                </a:moveTo>
                <a:lnTo>
                  <a:pt x="2335227" y="0"/>
                </a:lnTo>
                <a:lnTo>
                  <a:pt x="2335227" y="2101704"/>
                </a:lnTo>
                <a:lnTo>
                  <a:pt x="0" y="2101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9833275" y="1573676"/>
            <a:ext cx="6760330" cy="160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5"/>
              </a:lnSpc>
            </a:pPr>
            <a:r>
              <a:rPr lang="en-US" sz="5850" spc="-181">
                <a:solidFill>
                  <a:srgbClr val="FFDE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Desenvolvimento do projeto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833275" y="3405407"/>
            <a:ext cx="5786512" cy="5177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1"/>
              </a:lnSpc>
            </a:pP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HTML5</a:t>
            </a:r>
          </a:p>
          <a:p>
            <a:pPr marL="496567" lvl="1" indent="-248284" algn="l">
              <a:lnSpc>
                <a:spcPts val="2391"/>
              </a:lnSpc>
              <a:buFont typeface="Arial"/>
              <a:buChar char="•"/>
            </a:pP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Estruturação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: </a:t>
            </a: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Construção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da </a:t>
            </a: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arquitetura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e </a:t>
            </a: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esqueleto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das </a:t>
            </a: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páginas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web.</a:t>
            </a:r>
          </a:p>
          <a:p>
            <a:pPr algn="l">
              <a:lnSpc>
                <a:spcPts val="2391"/>
              </a:lnSpc>
            </a:pPr>
            <a:endParaRPr lang="en-US" sz="2299" b="1" spc="-114" dirty="0">
              <a:solidFill>
                <a:srgbClr val="FFDE00"/>
              </a:solidFill>
              <a:latin typeface="Inter Semi-Bold"/>
              <a:ea typeface="Inter Semi-Bold"/>
              <a:cs typeface="Inter Semi-Bold"/>
              <a:sym typeface="Inter Semi-Bold"/>
            </a:endParaRPr>
          </a:p>
          <a:p>
            <a:pPr algn="l">
              <a:lnSpc>
                <a:spcPts val="2391"/>
              </a:lnSpc>
            </a:pP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CSS3</a:t>
            </a:r>
          </a:p>
          <a:p>
            <a:pPr marL="496567" lvl="1" indent="-248284" algn="l">
              <a:lnSpc>
                <a:spcPts val="2391"/>
              </a:lnSpc>
              <a:buFont typeface="Arial"/>
              <a:buChar char="•"/>
            </a:pP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Design e Layout: </a:t>
            </a: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Estilização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visual e </a:t>
            </a: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criação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da </a:t>
            </a: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identidade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do </a:t>
            </a: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projeto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.</a:t>
            </a:r>
          </a:p>
          <a:p>
            <a:pPr marL="496567" lvl="1" indent="-248284" algn="l">
              <a:lnSpc>
                <a:spcPts val="2391"/>
              </a:lnSpc>
              <a:buFont typeface="Arial"/>
              <a:buChar char="•"/>
            </a:pP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Responsividade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: </a:t>
            </a: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Adaptação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da interface para </a:t>
            </a: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computadores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e </a:t>
            </a: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celulares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.</a:t>
            </a:r>
          </a:p>
          <a:p>
            <a:pPr algn="l">
              <a:lnSpc>
                <a:spcPts val="2391"/>
              </a:lnSpc>
            </a:pPr>
            <a:endParaRPr lang="en-US" sz="2299" b="1" spc="-114" dirty="0">
              <a:solidFill>
                <a:srgbClr val="FFDE00"/>
              </a:solidFill>
              <a:latin typeface="Inter Semi-Bold"/>
              <a:ea typeface="Inter Semi-Bold"/>
              <a:cs typeface="Inter Semi-Bold"/>
              <a:sym typeface="Inter Semi-Bold"/>
            </a:endParaRPr>
          </a:p>
          <a:p>
            <a:pPr algn="l">
              <a:lnSpc>
                <a:spcPts val="2391"/>
              </a:lnSpc>
            </a:pP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JavaScript</a:t>
            </a:r>
          </a:p>
          <a:p>
            <a:pPr marL="496567" lvl="1" indent="-248284" algn="l">
              <a:lnSpc>
                <a:spcPts val="2391"/>
              </a:lnSpc>
              <a:buFont typeface="Arial"/>
              <a:buChar char="•"/>
            </a:pP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Dinamismo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: </a:t>
            </a: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Implementação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da </a:t>
            </a: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lógica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do </a:t>
            </a: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sistema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e </a:t>
            </a: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interações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do </a:t>
            </a: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usuário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.</a:t>
            </a:r>
          </a:p>
          <a:p>
            <a:pPr marL="496567" lvl="1" indent="-248284" algn="l">
              <a:lnSpc>
                <a:spcPts val="2391"/>
              </a:lnSpc>
              <a:buFont typeface="Arial"/>
              <a:buChar char="•"/>
            </a:pP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Interatividade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: </a:t>
            </a: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Manipulação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de </a:t>
            </a: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elementos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e </a:t>
            </a: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funcionamento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dos </a:t>
            </a:r>
            <a:r>
              <a:rPr lang="en-US" sz="2299" b="1" spc="-114" dirty="0" err="1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exercícios</a:t>
            </a:r>
            <a:r>
              <a:rPr lang="en-US" sz="2299" b="1" spc="-114" dirty="0">
                <a:solidFill>
                  <a:srgbClr val="FFDE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.</a:t>
            </a:r>
          </a:p>
          <a:p>
            <a:pPr algn="l">
              <a:lnSpc>
                <a:spcPts val="2391"/>
              </a:lnSpc>
            </a:pPr>
            <a:endParaRPr lang="en-US" sz="2299" b="1" spc="-114" dirty="0">
              <a:solidFill>
                <a:srgbClr val="FFDE00"/>
              </a:solidFill>
              <a:latin typeface="Inter Semi-Bold"/>
              <a:ea typeface="Inter Semi-Bold"/>
              <a:cs typeface="Inter Semi-Bold"/>
              <a:sym typeface="Inter Semi-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9596" y="1028700"/>
            <a:ext cx="8817408" cy="8229600"/>
            <a:chOff x="0" y="0"/>
            <a:chExt cx="4239495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39495" cy="2167467"/>
            </a:xfrm>
            <a:custGeom>
              <a:avLst/>
              <a:gdLst/>
              <a:ahLst/>
              <a:cxnLst/>
              <a:rect l="l" t="t" r="r" b="b"/>
              <a:pathLst>
                <a:path w="4239495" h="2167467">
                  <a:moveTo>
                    <a:pt x="38477" y="0"/>
                  </a:moveTo>
                  <a:lnTo>
                    <a:pt x="4201018" y="0"/>
                  </a:lnTo>
                  <a:cubicBezTo>
                    <a:pt x="4211223" y="0"/>
                    <a:pt x="4221009" y="4054"/>
                    <a:pt x="4228225" y="11270"/>
                  </a:cubicBezTo>
                  <a:cubicBezTo>
                    <a:pt x="4235441" y="18485"/>
                    <a:pt x="4239495" y="28272"/>
                    <a:pt x="4239495" y="38477"/>
                  </a:cubicBezTo>
                  <a:lnTo>
                    <a:pt x="4239495" y="2128990"/>
                  </a:lnTo>
                  <a:cubicBezTo>
                    <a:pt x="4239495" y="2150240"/>
                    <a:pt x="4222268" y="2167467"/>
                    <a:pt x="4201018" y="2167467"/>
                  </a:cubicBezTo>
                  <a:lnTo>
                    <a:pt x="38477" y="2167467"/>
                  </a:lnTo>
                  <a:cubicBezTo>
                    <a:pt x="17227" y="2167467"/>
                    <a:pt x="0" y="2150240"/>
                    <a:pt x="0" y="2128990"/>
                  </a:cubicBezTo>
                  <a:lnTo>
                    <a:pt x="0" y="38477"/>
                  </a:lnTo>
                  <a:cubicBezTo>
                    <a:pt x="0" y="17227"/>
                    <a:pt x="17227" y="0"/>
                    <a:pt x="38477" y="0"/>
                  </a:cubicBezTo>
                  <a:close/>
                </a:path>
              </a:pathLst>
            </a:custGeom>
            <a:solidFill>
              <a:srgbClr val="FFDE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39495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812266" y="2257125"/>
            <a:ext cx="8044738" cy="7320325"/>
            <a:chOff x="-96048" y="-28575"/>
            <a:chExt cx="10726317" cy="9760434"/>
          </a:xfrm>
        </p:grpSpPr>
        <p:sp>
          <p:nvSpPr>
            <p:cNvPr id="8" name="TextBox 8"/>
            <p:cNvSpPr txBox="1"/>
            <p:nvPr/>
          </p:nvSpPr>
          <p:spPr>
            <a:xfrm>
              <a:off x="0" y="-28575"/>
              <a:ext cx="9604946" cy="9918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820"/>
                </a:lnSpc>
              </a:pPr>
              <a:r>
                <a:rPr lang="en-US" sz="6000" spc="-186" dirty="0" err="1" smtClean="0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Referências</a:t>
              </a:r>
              <a:endParaRPr lang="en-US" sz="6000" spc="-186" dirty="0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-96048" y="1451598"/>
              <a:ext cx="8814070" cy="62786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pt-BR" dirty="0"/>
                <a:t>ALVES, Lynn; COUTINHO, Isa. </a:t>
              </a:r>
              <a:r>
                <a:rPr lang="pt-BR" b="1" dirty="0"/>
                <a:t>Jogos digitais e aprendizagem: fundamentos para uma prática baseada em evidências</a:t>
              </a:r>
              <a:r>
                <a:rPr lang="pt-BR" dirty="0"/>
                <a:t>. Salvador: EDUFBA, 2016.</a:t>
              </a:r>
            </a:p>
            <a:p>
              <a:r>
                <a:rPr lang="pt-BR" dirty="0"/>
                <a:t>NETO, Hélio. </a:t>
              </a:r>
              <a:r>
                <a:rPr lang="pt-BR" b="1" dirty="0"/>
                <a:t>Manual de xadrez: curso básico</a:t>
              </a:r>
              <a:r>
                <a:rPr lang="pt-BR" dirty="0"/>
                <a:t>. Brasil: Sesc – Serviço Social do Comércio, 2018. Disponível em: </a:t>
              </a:r>
              <a:r>
                <a:rPr lang="pt-BR" u="sng" dirty="0">
                  <a:hlinkClick r:id="rId2"/>
                </a:rPr>
                <a:t>https://upload.wikimedia.org/wikipedia/commons/8/8b/Manual_xadrez.pdf</a:t>
              </a:r>
              <a:r>
                <a:rPr lang="pt-BR" dirty="0"/>
                <a:t>. Acesso em: 28 mar. 2026.</a:t>
              </a:r>
            </a:p>
            <a:p>
              <a:r>
                <a:rPr lang="pt-BR" dirty="0"/>
                <a:t>REINFELD, Fred. </a:t>
              </a:r>
              <a:r>
                <a:rPr lang="pt-BR" b="1" dirty="0"/>
                <a:t>Manual completo de aberturas de xadrez</a:t>
              </a:r>
              <a:r>
                <a:rPr lang="pt-BR" dirty="0"/>
                <a:t>. São Paulo: </a:t>
              </a:r>
              <a:r>
                <a:rPr lang="pt-BR" dirty="0" err="1"/>
                <a:t>Ibrasa</a:t>
              </a:r>
              <a:r>
                <a:rPr lang="pt-BR" dirty="0"/>
                <a:t>, 1979. Disponível em: </a:t>
              </a:r>
              <a:r>
                <a:rPr lang="pt-BR" u="sng" dirty="0">
                  <a:hlinkClick r:id="rId3"/>
                </a:rPr>
                <a:t>https://pt.scribd.com/document/577943064/Manual-Completo-de-Aberturas-de-Xadrez-Fred-Reinfeld</a:t>
              </a:r>
              <a:r>
                <a:rPr lang="pt-BR" dirty="0"/>
                <a:t>. Acesso em: 30 mar. 2026.</a:t>
              </a:r>
            </a:p>
            <a:p>
              <a:r>
                <a:rPr lang="pt-BR" dirty="0"/>
                <a:t>SILVA, João Carlos. </a:t>
              </a:r>
              <a:r>
                <a:rPr lang="pt-BR" b="1" dirty="0"/>
                <a:t>Tecnologias digitais aplicadas ao ensino e aprendizagem</a:t>
              </a:r>
              <a:r>
                <a:rPr lang="pt-BR" dirty="0"/>
                <a:t>. São Paulo: Atlas, 2020.</a:t>
              </a:r>
            </a:p>
            <a:p>
              <a:r>
                <a:rPr lang="pt-BR" dirty="0"/>
                <a:t>STUDY I. The ESEA </a:t>
              </a:r>
              <a:r>
                <a:rPr lang="pt-BR" dirty="0" err="1"/>
                <a:t>Title</a:t>
              </a:r>
              <a:r>
                <a:rPr lang="pt-BR" dirty="0"/>
                <a:t> IV-C Project: </a:t>
              </a:r>
              <a:r>
                <a:rPr lang="pt-BR" dirty="0" err="1"/>
                <a:t>Developing</a:t>
              </a:r>
              <a:r>
                <a:rPr lang="pt-BR" dirty="0"/>
                <a:t> </a:t>
              </a:r>
              <a:r>
                <a:rPr lang="pt-BR" dirty="0" err="1"/>
                <a:t>Critical</a:t>
              </a:r>
              <a:r>
                <a:rPr lang="pt-BR" dirty="0"/>
                <a:t> </a:t>
              </a:r>
              <a:r>
                <a:rPr lang="pt-BR" dirty="0" err="1"/>
                <a:t>and</a:t>
              </a:r>
              <a:r>
                <a:rPr lang="pt-BR" dirty="0"/>
                <a:t> </a:t>
              </a:r>
              <a:r>
                <a:rPr lang="pt-BR" dirty="0" err="1"/>
                <a:t>Creative</a:t>
              </a:r>
              <a:r>
                <a:rPr lang="pt-BR" dirty="0"/>
                <a:t> </a:t>
              </a:r>
              <a:r>
                <a:rPr lang="pt-BR" dirty="0" err="1"/>
                <a:t>Thinking</a:t>
              </a:r>
              <a:r>
                <a:rPr lang="pt-BR" dirty="0"/>
                <a:t> </a:t>
              </a:r>
              <a:r>
                <a:rPr lang="pt-BR" dirty="0" err="1"/>
                <a:t>Through</a:t>
              </a:r>
              <a:r>
                <a:rPr lang="pt-BR" dirty="0"/>
                <a:t> </a:t>
              </a:r>
              <a:r>
                <a:rPr lang="pt-BR" dirty="0" err="1"/>
                <a:t>Chess</a:t>
              </a:r>
              <a:r>
                <a:rPr lang="pt-BR" dirty="0"/>
                <a:t>. Disponível em: </a:t>
              </a:r>
              <a:r>
                <a:rPr lang="pt-BR" u="sng" dirty="0">
                  <a:hlinkClick r:id="rId4"/>
                </a:rPr>
                <a:t>https://www.geocities.ws/chess_camp/study_1.pdf</a:t>
              </a:r>
              <a:r>
                <a:rPr lang="pt-BR" dirty="0"/>
                <a:t>. Acesso em: 14 jun. 2026.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9327409"/>
              <a:ext cx="10630269" cy="404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35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5400000">
            <a:off x="8961408" y="3904754"/>
            <a:ext cx="392610" cy="437062"/>
            <a:chOff x="0" y="0"/>
            <a:chExt cx="523480" cy="582749"/>
          </a:xfrm>
        </p:grpSpPr>
        <p:grpSp>
          <p:nvGrpSpPr>
            <p:cNvPr id="12" name="Group 12"/>
            <p:cNvGrpSpPr/>
            <p:nvPr/>
          </p:nvGrpSpPr>
          <p:grpSpPr>
            <a:xfrm rot="5400000">
              <a:off x="297536" y="356805"/>
              <a:ext cx="241007" cy="210881"/>
              <a:chOff x="0" y="0"/>
              <a:chExt cx="812800" cy="7112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5400000">
              <a:off x="-15063" y="356805"/>
              <a:ext cx="241007" cy="210881"/>
              <a:chOff x="0" y="0"/>
              <a:chExt cx="812800" cy="7112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5400000">
              <a:off x="-15063" y="15063"/>
              <a:ext cx="241007" cy="210881"/>
              <a:chOff x="0" y="0"/>
              <a:chExt cx="812800" cy="7112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 rot="5400000">
              <a:off x="295966" y="15063"/>
              <a:ext cx="241007" cy="210881"/>
              <a:chOff x="0" y="0"/>
              <a:chExt cx="812800" cy="7112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79859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760517"/>
            <a:ext cx="15313942" cy="3409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80"/>
              </a:lnSpc>
            </a:pPr>
            <a:r>
              <a:rPr lang="en-US" sz="14000" spc="-434">
                <a:solidFill>
                  <a:srgbClr val="FFDE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Obrigado pela atenção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144000" y="1315346"/>
            <a:ext cx="3051359" cy="850263"/>
            <a:chOff x="0" y="0"/>
            <a:chExt cx="803650" cy="22393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03650" cy="223938"/>
            </a:xfrm>
            <a:custGeom>
              <a:avLst/>
              <a:gdLst/>
              <a:ahLst/>
              <a:cxnLst/>
              <a:rect l="l" t="t" r="r" b="b"/>
              <a:pathLst>
                <a:path w="803650" h="223938">
                  <a:moveTo>
                    <a:pt x="111969" y="0"/>
                  </a:moveTo>
                  <a:lnTo>
                    <a:pt x="691681" y="0"/>
                  </a:lnTo>
                  <a:cubicBezTo>
                    <a:pt x="721377" y="0"/>
                    <a:pt x="749857" y="11797"/>
                    <a:pt x="770855" y="32795"/>
                  </a:cubicBezTo>
                  <a:cubicBezTo>
                    <a:pt x="791854" y="53793"/>
                    <a:pt x="803650" y="82273"/>
                    <a:pt x="803650" y="111969"/>
                  </a:cubicBezTo>
                  <a:lnTo>
                    <a:pt x="803650" y="111969"/>
                  </a:lnTo>
                  <a:cubicBezTo>
                    <a:pt x="803650" y="173807"/>
                    <a:pt x="753520" y="223938"/>
                    <a:pt x="691681" y="223938"/>
                  </a:cubicBezTo>
                  <a:lnTo>
                    <a:pt x="111969" y="223938"/>
                  </a:lnTo>
                  <a:cubicBezTo>
                    <a:pt x="82273" y="223938"/>
                    <a:pt x="53793" y="212141"/>
                    <a:pt x="32795" y="191143"/>
                  </a:cubicBezTo>
                  <a:cubicBezTo>
                    <a:pt x="11797" y="170144"/>
                    <a:pt x="0" y="141665"/>
                    <a:pt x="0" y="111969"/>
                  </a:cubicBezTo>
                  <a:lnTo>
                    <a:pt x="0" y="111969"/>
                  </a:lnTo>
                  <a:cubicBezTo>
                    <a:pt x="0" y="82273"/>
                    <a:pt x="11797" y="53793"/>
                    <a:pt x="32795" y="32795"/>
                  </a:cubicBezTo>
                  <a:cubicBezTo>
                    <a:pt x="53793" y="11797"/>
                    <a:pt x="82273" y="0"/>
                    <a:pt x="111969" y="0"/>
                  </a:cubicBezTo>
                  <a:close/>
                </a:path>
              </a:pathLst>
            </a:custGeom>
            <a:solidFill>
              <a:srgbClr val="FFDE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03650" cy="271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399" b="1" spc="-119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EtecVav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338234" y="1315346"/>
            <a:ext cx="1444428" cy="850263"/>
            <a:chOff x="0" y="0"/>
            <a:chExt cx="380425" cy="2239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80425" cy="223938"/>
            </a:xfrm>
            <a:custGeom>
              <a:avLst/>
              <a:gdLst/>
              <a:ahLst/>
              <a:cxnLst/>
              <a:rect l="l" t="t" r="r" b="b"/>
              <a:pathLst>
                <a:path w="380425" h="223938">
                  <a:moveTo>
                    <a:pt x="111969" y="0"/>
                  </a:moveTo>
                  <a:lnTo>
                    <a:pt x="268457" y="0"/>
                  </a:lnTo>
                  <a:cubicBezTo>
                    <a:pt x="298153" y="0"/>
                    <a:pt x="326632" y="11797"/>
                    <a:pt x="347630" y="32795"/>
                  </a:cubicBezTo>
                  <a:cubicBezTo>
                    <a:pt x="368629" y="53793"/>
                    <a:pt x="380425" y="82273"/>
                    <a:pt x="380425" y="111969"/>
                  </a:cubicBezTo>
                  <a:lnTo>
                    <a:pt x="380425" y="111969"/>
                  </a:lnTo>
                  <a:cubicBezTo>
                    <a:pt x="380425" y="141665"/>
                    <a:pt x="368629" y="170144"/>
                    <a:pt x="347630" y="191143"/>
                  </a:cubicBezTo>
                  <a:cubicBezTo>
                    <a:pt x="326632" y="212141"/>
                    <a:pt x="298153" y="223938"/>
                    <a:pt x="268457" y="223938"/>
                  </a:cubicBezTo>
                  <a:lnTo>
                    <a:pt x="111969" y="223938"/>
                  </a:lnTo>
                  <a:cubicBezTo>
                    <a:pt x="82273" y="223938"/>
                    <a:pt x="53793" y="212141"/>
                    <a:pt x="32795" y="191143"/>
                  </a:cubicBezTo>
                  <a:cubicBezTo>
                    <a:pt x="11797" y="170144"/>
                    <a:pt x="0" y="141665"/>
                    <a:pt x="0" y="111969"/>
                  </a:cubicBezTo>
                  <a:lnTo>
                    <a:pt x="0" y="111969"/>
                  </a:lnTo>
                  <a:cubicBezTo>
                    <a:pt x="0" y="82273"/>
                    <a:pt x="11797" y="53793"/>
                    <a:pt x="32795" y="32795"/>
                  </a:cubicBezTo>
                  <a:cubicBezTo>
                    <a:pt x="53793" y="11797"/>
                    <a:pt x="82273" y="0"/>
                    <a:pt x="111969" y="0"/>
                  </a:cubicBezTo>
                  <a:close/>
                </a:path>
              </a:pathLst>
            </a:custGeom>
            <a:ln w="38100" cap="rnd">
              <a:solidFill>
                <a:srgbClr val="FFDE00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380425" cy="271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399" b="1" spc="-119">
                  <a:solidFill>
                    <a:srgbClr val="FFE53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2026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925537" y="1315346"/>
            <a:ext cx="2651554" cy="1009171"/>
            <a:chOff x="0" y="0"/>
            <a:chExt cx="698352" cy="26579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98352" cy="265790"/>
            </a:xfrm>
            <a:custGeom>
              <a:avLst/>
              <a:gdLst/>
              <a:ahLst/>
              <a:cxnLst/>
              <a:rect l="l" t="t" r="r" b="b"/>
              <a:pathLst>
                <a:path w="698352" h="265790">
                  <a:moveTo>
                    <a:pt x="132895" y="0"/>
                  </a:moveTo>
                  <a:lnTo>
                    <a:pt x="565457" y="0"/>
                  </a:lnTo>
                  <a:cubicBezTo>
                    <a:pt x="638853" y="0"/>
                    <a:pt x="698352" y="59499"/>
                    <a:pt x="698352" y="132895"/>
                  </a:cubicBezTo>
                  <a:lnTo>
                    <a:pt x="698352" y="132895"/>
                  </a:lnTo>
                  <a:cubicBezTo>
                    <a:pt x="698352" y="168141"/>
                    <a:pt x="684350" y="201943"/>
                    <a:pt x="659428" y="226866"/>
                  </a:cubicBezTo>
                  <a:cubicBezTo>
                    <a:pt x="634505" y="251788"/>
                    <a:pt x="600703" y="265790"/>
                    <a:pt x="565457" y="265790"/>
                  </a:cubicBezTo>
                  <a:lnTo>
                    <a:pt x="132895" y="265790"/>
                  </a:lnTo>
                  <a:cubicBezTo>
                    <a:pt x="97649" y="265790"/>
                    <a:pt x="63847" y="251788"/>
                    <a:pt x="38924" y="226866"/>
                  </a:cubicBezTo>
                  <a:cubicBezTo>
                    <a:pt x="14001" y="201943"/>
                    <a:pt x="0" y="168141"/>
                    <a:pt x="0" y="132895"/>
                  </a:cubicBezTo>
                  <a:lnTo>
                    <a:pt x="0" y="132895"/>
                  </a:lnTo>
                  <a:cubicBezTo>
                    <a:pt x="0" y="97649"/>
                    <a:pt x="14001" y="63847"/>
                    <a:pt x="38924" y="38924"/>
                  </a:cubicBezTo>
                  <a:cubicBezTo>
                    <a:pt x="63847" y="14001"/>
                    <a:pt x="97649" y="0"/>
                    <a:pt x="132895" y="0"/>
                  </a:cubicBezTo>
                  <a:close/>
                </a:path>
              </a:pathLst>
            </a:custGeom>
            <a:solidFill>
              <a:srgbClr val="FFDE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698352" cy="3134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399" b="1" spc="-119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Desenv. De Sistemas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 flipV="1">
            <a:off x="-420494" y="1740477"/>
            <a:ext cx="9085555" cy="0"/>
          </a:xfrm>
          <a:prstGeom prst="line">
            <a:avLst/>
          </a:prstGeom>
          <a:ln w="19050" cap="flat">
            <a:solidFill>
              <a:srgbClr val="FFDE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3" name="AutoShape 13"/>
          <p:cNvSpPr/>
          <p:nvPr/>
        </p:nvSpPr>
        <p:spPr>
          <a:xfrm>
            <a:off x="-958428" y="8618431"/>
            <a:ext cx="21490499" cy="0"/>
          </a:xfrm>
          <a:prstGeom prst="line">
            <a:avLst/>
          </a:prstGeom>
          <a:ln w="19050" cap="flat">
            <a:solidFill>
              <a:srgbClr val="FFDE00"/>
            </a:solidFill>
            <a:prstDash val="solid"/>
            <a:headEnd type="none" w="sm" len="sm"/>
            <a:tailEnd type="oval" w="lg" len="lg"/>
          </a:ln>
        </p:spPr>
      </p:sp>
      <p:sp>
        <p:nvSpPr>
          <p:cNvPr id="14" name="AutoShape 14"/>
          <p:cNvSpPr/>
          <p:nvPr/>
        </p:nvSpPr>
        <p:spPr>
          <a:xfrm>
            <a:off x="16980041" y="1740477"/>
            <a:ext cx="1307959" cy="0"/>
          </a:xfrm>
          <a:prstGeom prst="line">
            <a:avLst/>
          </a:prstGeom>
          <a:ln w="19050" cap="flat">
            <a:solidFill>
              <a:srgbClr val="FFDE00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-1436658" y="6434450"/>
            <a:ext cx="19839463" cy="0"/>
          </a:xfrm>
          <a:prstGeom prst="line">
            <a:avLst/>
          </a:prstGeom>
          <a:ln w="19050" cap="flat">
            <a:solidFill>
              <a:srgbClr val="FFDE00"/>
            </a:solidFill>
            <a:prstDash val="solid"/>
            <a:headEnd type="oval" w="lg" len="lg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>
            <a:off x="16588609" y="3164199"/>
            <a:ext cx="392610" cy="437062"/>
            <a:chOff x="0" y="0"/>
            <a:chExt cx="523480" cy="582749"/>
          </a:xfrm>
        </p:grpSpPr>
        <p:grpSp>
          <p:nvGrpSpPr>
            <p:cNvPr id="17" name="Group 17"/>
            <p:cNvGrpSpPr/>
            <p:nvPr/>
          </p:nvGrpSpPr>
          <p:grpSpPr>
            <a:xfrm rot="5400000">
              <a:off x="297536" y="356805"/>
              <a:ext cx="241007" cy="210881"/>
              <a:chOff x="0" y="0"/>
              <a:chExt cx="812800" cy="7112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5400000">
              <a:off x="-15063" y="356805"/>
              <a:ext cx="241007" cy="210881"/>
              <a:chOff x="0" y="0"/>
              <a:chExt cx="812800" cy="7112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 rot="5400000">
              <a:off x="-15063" y="15063"/>
              <a:ext cx="241007" cy="210881"/>
              <a:chOff x="0" y="0"/>
              <a:chExt cx="812800" cy="7112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 rot="5400000">
              <a:off x="295966" y="15063"/>
              <a:ext cx="241007" cy="210881"/>
              <a:chOff x="0" y="0"/>
              <a:chExt cx="812800" cy="7112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  <p:grpSp>
        <p:nvGrpSpPr>
          <p:cNvPr id="29" name="Group 29"/>
          <p:cNvGrpSpPr/>
          <p:nvPr/>
        </p:nvGrpSpPr>
        <p:grpSpPr>
          <a:xfrm>
            <a:off x="1028700" y="9039769"/>
            <a:ext cx="392610" cy="437062"/>
            <a:chOff x="0" y="0"/>
            <a:chExt cx="523480" cy="582749"/>
          </a:xfrm>
        </p:grpSpPr>
        <p:grpSp>
          <p:nvGrpSpPr>
            <p:cNvPr id="30" name="Group 30"/>
            <p:cNvGrpSpPr/>
            <p:nvPr/>
          </p:nvGrpSpPr>
          <p:grpSpPr>
            <a:xfrm rot="5400000">
              <a:off x="297536" y="356805"/>
              <a:ext cx="241007" cy="210881"/>
              <a:chOff x="0" y="0"/>
              <a:chExt cx="812800" cy="7112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 rot="5400000">
              <a:off x="-15063" y="356805"/>
              <a:ext cx="241007" cy="210881"/>
              <a:chOff x="0" y="0"/>
              <a:chExt cx="812800" cy="7112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 rot="5400000">
              <a:off x="-15063" y="15063"/>
              <a:ext cx="241007" cy="210881"/>
              <a:chOff x="0" y="0"/>
              <a:chExt cx="812800" cy="7112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 rot="5400000">
              <a:off x="295966" y="15063"/>
              <a:ext cx="241007" cy="210881"/>
              <a:chOff x="0" y="0"/>
              <a:chExt cx="812800" cy="7112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00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  <p:sp>
        <p:nvSpPr>
          <p:cNvPr id="42" name="TextBox 42"/>
          <p:cNvSpPr txBox="1"/>
          <p:nvPr/>
        </p:nvSpPr>
        <p:spPr>
          <a:xfrm>
            <a:off x="1225005" y="7267932"/>
            <a:ext cx="15313942" cy="574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4"/>
              </a:lnSpc>
            </a:pPr>
            <a:r>
              <a:rPr lang="en-US" sz="4200" spc="-130">
                <a:solidFill>
                  <a:srgbClr val="FFDE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Você tem alguma duvida?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573</Words>
  <Application>Microsoft Office PowerPoint</Application>
  <PresentationFormat>Personalizar</PresentationFormat>
  <Paragraphs>78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9" baseType="lpstr">
      <vt:lpstr>Inter Medium</vt:lpstr>
      <vt:lpstr>Calibri</vt:lpstr>
      <vt:lpstr>Inter</vt:lpstr>
      <vt:lpstr>Inter Bold</vt:lpstr>
      <vt:lpstr>Heading Now 71-78</vt:lpstr>
      <vt:lpstr>Inter Semi-Bold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PrimeiroLance_apresentação_3bimestre</dc:title>
  <dc:creator>EtecVAV</dc:creator>
  <cp:lastModifiedBy>EtecVAV</cp:lastModifiedBy>
  <cp:revision>5</cp:revision>
  <dcterms:created xsi:type="dcterms:W3CDTF">2006-08-16T00:00:00Z</dcterms:created>
  <dcterms:modified xsi:type="dcterms:W3CDTF">2026-09-21T12:20:20Z</dcterms:modified>
  <dc:identifier>DAHVxeQwIyY</dc:identifier>
</cp:coreProperties>
</file>